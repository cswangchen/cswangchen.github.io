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Outfit"/>
      <p:regular r:id="rId17"/>
    </p:embeddedFont>
    <p:embeddedFont>
      <p:font typeface="Outfit"/>
      <p:regular r:id="rId18"/>
    </p:embeddedFont>
    <p:embeddedFont>
      <p:font typeface="Bitter"/>
      <p:regular r:id="rId19"/>
    </p:embeddedFont>
    <p:embeddedFont>
      <p:font typeface="Bitter"/>
      <p:regular r:id="rId20"/>
    </p:embeddedFont>
    <p:embeddedFont>
      <p:font typeface="Bitter"/>
      <p:regular r:id="rId21"/>
    </p:embeddedFont>
    <p:embeddedFont>
      <p:font typeface="Bitter"/>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1025366"/>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E1E5CD"/>
                </a:solidFill>
                <a:latin typeface="Outfit Bold" pitchFamily="34" charset="0"/>
                <a:ea typeface="Outfit Bold" pitchFamily="34" charset="-122"/>
                <a:cs typeface="Outfit Bold" pitchFamily="34" charset="-120"/>
              </a:rPr>
              <a:t>HSBG巴豐投资沪深港美精选基金</a:t>
            </a:r>
            <a:endParaRPr lang="en-US" sz="4450" dirty="0"/>
          </a:p>
        </p:txBody>
      </p:sp>
      <p:sp>
        <p:nvSpPr>
          <p:cNvPr id="4" name="Text 1"/>
          <p:cNvSpPr/>
          <p:nvPr/>
        </p:nvSpPr>
        <p:spPr>
          <a:xfrm>
            <a:off x="793790" y="2783086"/>
            <a:ext cx="7556421" cy="978218"/>
          </a:xfrm>
          <a:prstGeom prst="rect">
            <a:avLst/>
          </a:prstGeom>
          <a:noFill/>
          <a:ln/>
        </p:spPr>
        <p:txBody>
          <a:bodyPr wrap="none" lIns="0" tIns="0" rIns="0" bIns="0" rtlCol="0" anchor="t"/>
          <a:lstStyle/>
          <a:p>
            <a:pPr algn="l" indent="0" marL="0">
              <a:lnSpc>
                <a:spcPts val="7700"/>
              </a:lnSpc>
              <a:buNone/>
            </a:pPr>
            <a:r>
              <a:rPr lang="en-US" sz="6150" b="1" dirty="0">
                <a:solidFill>
                  <a:srgbClr val="E1E5CD"/>
                </a:solidFill>
                <a:latin typeface="Outfit Bold" pitchFamily="34" charset="0"/>
                <a:ea typeface="Outfit Bold" pitchFamily="34" charset="-122"/>
                <a:cs typeface="Outfit Bold" pitchFamily="34" charset="-120"/>
              </a:rPr>
              <a:t>2025年第三季度报告</a:t>
            </a:r>
            <a:endParaRPr lang="en-US" sz="6150" dirty="0"/>
          </a:p>
        </p:txBody>
      </p:sp>
      <p:sp>
        <p:nvSpPr>
          <p:cNvPr id="5" name="Text 2"/>
          <p:cNvSpPr/>
          <p:nvPr/>
        </p:nvSpPr>
        <p:spPr>
          <a:xfrm>
            <a:off x="793790" y="4101465"/>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报告日期：2025年10月12日</a:t>
            </a:r>
            <a:endParaRPr lang="en-US" sz="1750" dirty="0"/>
          </a:p>
        </p:txBody>
      </p:sp>
      <p:pic>
        <p:nvPicPr>
          <p:cNvPr id="6" name="Image 1" descr="preencoded.png">    </p:cNvPr>
          <p:cNvPicPr>
            <a:picLocks noChangeAspect="1"/>
          </p:cNvPicPr>
          <p:nvPr/>
        </p:nvPicPr>
        <p:blipFill>
          <a:blip r:embed="rId2"/>
          <a:stretch>
            <a:fillRect/>
          </a:stretch>
        </p:blipFill>
        <p:spPr>
          <a:xfrm>
            <a:off x="793790" y="4974669"/>
            <a:ext cx="3501509" cy="1407319"/>
          </a:xfrm>
          <a:prstGeom prst="rect">
            <a:avLst/>
          </a:prstGeom>
        </p:spPr>
      </p:pic>
      <p:sp>
        <p:nvSpPr>
          <p:cNvPr id="7" name="Text 3"/>
          <p:cNvSpPr/>
          <p:nvPr/>
        </p:nvSpPr>
        <p:spPr>
          <a:xfrm>
            <a:off x="793790" y="6637139"/>
            <a:ext cx="350150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8" name="Text 4"/>
          <p:cNvSpPr/>
          <p:nvPr/>
        </p:nvSpPr>
        <p:spPr>
          <a:xfrm>
            <a:off x="4856321" y="5496878"/>
            <a:ext cx="3501509"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汇报人： 基金经理 Barry</a:t>
            </a:r>
            <a:endParaRPr lang="en-US" sz="1750" dirty="0"/>
          </a:p>
        </p:txBody>
      </p:sp>
      <p:sp>
        <p:nvSpPr>
          <p:cNvPr id="9" name="Text 5"/>
          <p:cNvSpPr/>
          <p:nvPr/>
        </p:nvSpPr>
        <p:spPr>
          <a:xfrm>
            <a:off x="4856321" y="6063853"/>
            <a:ext cx="3501509"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联系方式：+86 18855169896</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74927"/>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1E5CD"/>
                </a:solidFill>
                <a:latin typeface="Outfit Bold" pitchFamily="34" charset="0"/>
                <a:ea typeface="Outfit Bold" pitchFamily="34" charset="-122"/>
                <a:cs typeface="Outfit Bold" pitchFamily="34" charset="-120"/>
              </a:rPr>
              <a:t>重要提示</a:t>
            </a:r>
            <a:endParaRPr lang="en-US" sz="4450" dirty="0"/>
          </a:p>
        </p:txBody>
      </p:sp>
      <p:sp>
        <p:nvSpPr>
          <p:cNvPr id="3" name="Text 1"/>
          <p:cNvSpPr/>
          <p:nvPr/>
        </p:nvSpPr>
        <p:spPr>
          <a:xfrm>
            <a:off x="793790" y="3550682"/>
            <a:ext cx="1486019" cy="582216"/>
          </a:xfrm>
          <a:prstGeom prst="rect">
            <a:avLst/>
          </a:prstGeom>
          <a:noFill/>
          <a:ln/>
        </p:spPr>
        <p:txBody>
          <a:bodyPr wrap="none" lIns="0" tIns="0" rIns="0" bIns="0" rtlCol="0" anchor="t"/>
          <a:lstStyle/>
          <a:p>
            <a:pPr algn="l" indent="0" marL="0">
              <a:lnSpc>
                <a:spcPts val="4450"/>
              </a:lnSpc>
              <a:buNone/>
            </a:pPr>
            <a:r>
              <a:rPr lang="en-US" sz="3550" b="1" dirty="0">
                <a:solidFill>
                  <a:srgbClr val="000000"/>
                </a:solidFill>
                <a:latin typeface="Outfit Bold" pitchFamily="34" charset="0"/>
                <a:ea typeface="Outfit Bold" pitchFamily="34" charset="-122"/>
                <a:cs typeface="Outfit Bold" pitchFamily="34" charset="-120"/>
              </a:rPr>
              <a:t>⚠️</a:t>
            </a:r>
            <a:endParaRPr lang="en-US" sz="3550" dirty="0"/>
          </a:p>
        </p:txBody>
      </p:sp>
      <p:sp>
        <p:nvSpPr>
          <p:cNvPr id="4" name="Text 2"/>
          <p:cNvSpPr/>
          <p:nvPr/>
        </p:nvSpPr>
        <p:spPr>
          <a:xfrm>
            <a:off x="2840831" y="3527941"/>
            <a:ext cx="11003280" cy="725805"/>
          </a:xfrm>
          <a:prstGeom prst="rect">
            <a:avLst/>
          </a:prstGeom>
          <a:noFill/>
          <a:ln/>
        </p:spPr>
        <p:txBody>
          <a:bodyPr wrap="squar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本基金管理人及董事会全体成员保证本报告所载资料不存在虚假记载、误导性陈述或重大遗漏,并对其内容的真实性、准确性和完整性承担个别及连带责任。</a:t>
            </a:r>
            <a:endParaRPr lang="en-US" sz="1750" dirty="0"/>
          </a:p>
        </p:txBody>
      </p:sp>
      <p:sp>
        <p:nvSpPr>
          <p:cNvPr id="5" name="Text 3"/>
          <p:cNvSpPr/>
          <p:nvPr/>
        </p:nvSpPr>
        <p:spPr>
          <a:xfrm>
            <a:off x="2840831" y="4457819"/>
            <a:ext cx="11003280" cy="725805"/>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投资有风险,基金过往业绩不代表未来表现。</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投资者在做出投资决策前应仔细阅读本基金的招募说明书及基金合同。</a:t>
            </a:r>
            <a:endParaRPr lang="en-US" sz="1750" dirty="0"/>
          </a:p>
        </p:txBody>
      </p:sp>
      <p:sp>
        <p:nvSpPr>
          <p:cNvPr id="6" name="Text 4"/>
          <p:cNvSpPr/>
          <p:nvPr/>
        </p:nvSpPr>
        <p:spPr>
          <a:xfrm>
            <a:off x="2840831" y="5387697"/>
            <a:ext cx="11003280"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本报告中的财务资料未经审计。基金托管人已复核了本报告中的净值表现和投资组合报告等内容。</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40919"/>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1E5CD"/>
                </a:solidFill>
                <a:latin typeface="Outfit Bold" pitchFamily="34" charset="0"/>
                <a:ea typeface="Outfit Bold" pitchFamily="34" charset="-122"/>
                <a:cs typeface="Outfit Bold" pitchFamily="34" charset="-120"/>
              </a:rPr>
              <a:t>基金概况</a:t>
            </a:r>
            <a:endParaRPr lang="en-US" sz="4450" dirty="0"/>
          </a:p>
        </p:txBody>
      </p:sp>
      <p:sp>
        <p:nvSpPr>
          <p:cNvPr id="3" name="Shape 1"/>
          <p:cNvSpPr/>
          <p:nvPr/>
        </p:nvSpPr>
        <p:spPr>
          <a:xfrm>
            <a:off x="793790" y="2803327"/>
            <a:ext cx="4196358" cy="2214205"/>
          </a:xfrm>
          <a:prstGeom prst="roundRect">
            <a:avLst>
              <a:gd name="adj" fmla="val 1537"/>
            </a:avLst>
          </a:prstGeom>
          <a:solidFill>
            <a:srgbClr val="3B3C3E"/>
          </a:solidFill>
          <a:ln/>
        </p:spPr>
      </p:sp>
      <p:sp>
        <p:nvSpPr>
          <p:cNvPr id="4" name="Shape 2"/>
          <p:cNvSpPr/>
          <p:nvPr/>
        </p:nvSpPr>
        <p:spPr>
          <a:xfrm>
            <a:off x="1020604" y="3030141"/>
            <a:ext cx="680442" cy="680442"/>
          </a:xfrm>
          <a:prstGeom prst="roundRect">
            <a:avLst>
              <a:gd name="adj" fmla="val 13436980"/>
            </a:avLst>
          </a:prstGeom>
          <a:solidFill>
            <a:srgbClr val="9FA582"/>
          </a:solidFill>
          <a:ln/>
        </p:spPr>
      </p:sp>
      <p:pic>
        <p:nvPicPr>
          <p:cNvPr id="5" name="Image 0" descr="preencoded.png">    </p:cNvPr>
          <p:cNvPicPr>
            <a:picLocks noChangeAspect="1"/>
          </p:cNvPicPr>
          <p:nvPr/>
        </p:nvPicPr>
        <p:blipFill>
          <a:blip r:embed="rId1"/>
          <a:stretch>
            <a:fillRect/>
          </a:stretch>
        </p:blipFill>
        <p:spPr>
          <a:xfrm>
            <a:off x="1207770" y="3178969"/>
            <a:ext cx="306110" cy="382667"/>
          </a:xfrm>
          <a:prstGeom prst="rect">
            <a:avLst/>
          </a:prstGeom>
        </p:spPr>
      </p:pic>
      <p:sp>
        <p:nvSpPr>
          <p:cNvPr id="6" name="Text 3"/>
          <p:cNvSpPr/>
          <p:nvPr/>
        </p:nvSpPr>
        <p:spPr>
          <a:xfrm>
            <a:off x="1020604" y="393739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基金简称</a:t>
            </a:r>
            <a:endParaRPr lang="en-US" sz="2200" dirty="0"/>
          </a:p>
        </p:txBody>
      </p:sp>
      <p:sp>
        <p:nvSpPr>
          <p:cNvPr id="7" name="Text 4"/>
          <p:cNvSpPr/>
          <p:nvPr/>
        </p:nvSpPr>
        <p:spPr>
          <a:xfrm>
            <a:off x="1020604" y="4427815"/>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HSBG巴豐沪深港美精选基金</a:t>
            </a:r>
            <a:endParaRPr lang="en-US" sz="1750" dirty="0"/>
          </a:p>
        </p:txBody>
      </p:sp>
      <p:sp>
        <p:nvSpPr>
          <p:cNvPr id="8" name="Shape 5"/>
          <p:cNvSpPr/>
          <p:nvPr/>
        </p:nvSpPr>
        <p:spPr>
          <a:xfrm>
            <a:off x="5216962" y="2803327"/>
            <a:ext cx="4196358" cy="2214205"/>
          </a:xfrm>
          <a:prstGeom prst="roundRect">
            <a:avLst>
              <a:gd name="adj" fmla="val 1537"/>
            </a:avLst>
          </a:prstGeom>
          <a:solidFill>
            <a:srgbClr val="3B3C3E"/>
          </a:solidFill>
          <a:ln/>
        </p:spPr>
      </p:sp>
      <p:sp>
        <p:nvSpPr>
          <p:cNvPr id="9" name="Shape 6"/>
          <p:cNvSpPr/>
          <p:nvPr/>
        </p:nvSpPr>
        <p:spPr>
          <a:xfrm>
            <a:off x="5443776" y="3030141"/>
            <a:ext cx="680442" cy="680442"/>
          </a:xfrm>
          <a:prstGeom prst="roundRect">
            <a:avLst>
              <a:gd name="adj" fmla="val 13436980"/>
            </a:avLst>
          </a:prstGeom>
          <a:solidFill>
            <a:srgbClr val="9FA582"/>
          </a:solidFill>
          <a:ln/>
        </p:spPr>
      </p:sp>
      <p:pic>
        <p:nvPicPr>
          <p:cNvPr id="10" name="Image 1" descr="preencoded.png">    </p:cNvPr>
          <p:cNvPicPr>
            <a:picLocks noChangeAspect="1"/>
          </p:cNvPicPr>
          <p:nvPr/>
        </p:nvPicPr>
        <p:blipFill>
          <a:blip r:embed="rId2"/>
          <a:stretch>
            <a:fillRect/>
          </a:stretch>
        </p:blipFill>
        <p:spPr>
          <a:xfrm>
            <a:off x="5630942" y="3178969"/>
            <a:ext cx="306110" cy="382667"/>
          </a:xfrm>
          <a:prstGeom prst="rect">
            <a:avLst/>
          </a:prstGeom>
        </p:spPr>
      </p:pic>
      <p:sp>
        <p:nvSpPr>
          <p:cNvPr id="11" name="Text 7"/>
          <p:cNvSpPr/>
          <p:nvPr/>
        </p:nvSpPr>
        <p:spPr>
          <a:xfrm>
            <a:off x="5443776" y="393739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基金类型</a:t>
            </a:r>
            <a:endParaRPr lang="en-US" sz="2200" dirty="0"/>
          </a:p>
        </p:txBody>
      </p:sp>
      <p:sp>
        <p:nvSpPr>
          <p:cNvPr id="12" name="Text 8"/>
          <p:cNvSpPr/>
          <p:nvPr/>
        </p:nvSpPr>
        <p:spPr>
          <a:xfrm>
            <a:off x="5443776" y="4427815"/>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混合型开放式证券投资基金</a:t>
            </a:r>
            <a:endParaRPr lang="en-US" sz="1750" dirty="0"/>
          </a:p>
        </p:txBody>
      </p:sp>
      <p:sp>
        <p:nvSpPr>
          <p:cNvPr id="13" name="Shape 9"/>
          <p:cNvSpPr/>
          <p:nvPr/>
        </p:nvSpPr>
        <p:spPr>
          <a:xfrm>
            <a:off x="9640133" y="2803327"/>
            <a:ext cx="4196358" cy="2214205"/>
          </a:xfrm>
          <a:prstGeom prst="roundRect">
            <a:avLst>
              <a:gd name="adj" fmla="val 1537"/>
            </a:avLst>
          </a:prstGeom>
          <a:solidFill>
            <a:srgbClr val="3B3C3E"/>
          </a:solidFill>
          <a:ln/>
        </p:spPr>
      </p:sp>
      <p:sp>
        <p:nvSpPr>
          <p:cNvPr id="14" name="Shape 10"/>
          <p:cNvSpPr/>
          <p:nvPr/>
        </p:nvSpPr>
        <p:spPr>
          <a:xfrm>
            <a:off x="9866948" y="3030141"/>
            <a:ext cx="680442" cy="680442"/>
          </a:xfrm>
          <a:prstGeom prst="roundRect">
            <a:avLst>
              <a:gd name="adj" fmla="val 13436980"/>
            </a:avLst>
          </a:prstGeom>
          <a:solidFill>
            <a:srgbClr val="9FA582"/>
          </a:solidFill>
          <a:ln/>
        </p:spPr>
      </p:sp>
      <p:pic>
        <p:nvPicPr>
          <p:cNvPr id="15" name="Image 2" descr="preencoded.png">    </p:cNvPr>
          <p:cNvPicPr>
            <a:picLocks noChangeAspect="1"/>
          </p:cNvPicPr>
          <p:nvPr/>
        </p:nvPicPr>
        <p:blipFill>
          <a:blip r:embed="rId3"/>
          <a:stretch>
            <a:fillRect/>
          </a:stretch>
        </p:blipFill>
        <p:spPr>
          <a:xfrm>
            <a:off x="10054114" y="3178969"/>
            <a:ext cx="306110" cy="382667"/>
          </a:xfrm>
          <a:prstGeom prst="rect">
            <a:avLst/>
          </a:prstGeom>
        </p:spPr>
      </p:pic>
      <p:sp>
        <p:nvSpPr>
          <p:cNvPr id="16" name="Text 11"/>
          <p:cNvSpPr/>
          <p:nvPr/>
        </p:nvSpPr>
        <p:spPr>
          <a:xfrm>
            <a:off x="9866948" y="393739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投资目标</a:t>
            </a:r>
            <a:endParaRPr lang="en-US" sz="2200" dirty="0"/>
          </a:p>
        </p:txBody>
      </p:sp>
      <p:sp>
        <p:nvSpPr>
          <p:cNvPr id="17" name="Text 12"/>
          <p:cNvSpPr/>
          <p:nvPr/>
        </p:nvSpPr>
        <p:spPr>
          <a:xfrm>
            <a:off x="9866948" y="4427815"/>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跨市场资产配置，追求长期稳定增值</a:t>
            </a:r>
            <a:endParaRPr lang="en-US" sz="1750" dirty="0"/>
          </a:p>
        </p:txBody>
      </p:sp>
      <p:sp>
        <p:nvSpPr>
          <p:cNvPr id="18" name="Shape 13"/>
          <p:cNvSpPr/>
          <p:nvPr/>
        </p:nvSpPr>
        <p:spPr>
          <a:xfrm>
            <a:off x="793790" y="5272683"/>
            <a:ext cx="13042821" cy="1315879"/>
          </a:xfrm>
          <a:prstGeom prst="roundRect">
            <a:avLst>
              <a:gd name="adj" fmla="val 2586"/>
            </a:avLst>
          </a:prstGeom>
          <a:noFill/>
          <a:ln w="7620">
            <a:solidFill>
              <a:srgbClr val="FFFFFF">
                <a:alpha val="24000"/>
              </a:srgbClr>
            </a:solidFill>
            <a:prstDash val="solid"/>
          </a:ln>
        </p:spPr>
      </p:sp>
      <p:sp>
        <p:nvSpPr>
          <p:cNvPr id="19" name="Shape 14"/>
          <p:cNvSpPr/>
          <p:nvPr/>
        </p:nvSpPr>
        <p:spPr>
          <a:xfrm>
            <a:off x="801410" y="5280303"/>
            <a:ext cx="13027581" cy="650319"/>
          </a:xfrm>
          <a:prstGeom prst="rect">
            <a:avLst/>
          </a:prstGeom>
          <a:solidFill>
            <a:srgbClr val="FFFFFF">
              <a:alpha val="4000"/>
            </a:srgbClr>
          </a:solidFill>
          <a:ln/>
        </p:spPr>
      </p:sp>
      <p:sp>
        <p:nvSpPr>
          <p:cNvPr id="20" name="Text 15"/>
          <p:cNvSpPr/>
          <p:nvPr/>
        </p:nvSpPr>
        <p:spPr>
          <a:xfrm>
            <a:off x="1028343" y="5424011"/>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投资策略</a:t>
            </a:r>
            <a:endParaRPr lang="en-US" sz="1750" dirty="0"/>
          </a:p>
        </p:txBody>
      </p:sp>
      <p:sp>
        <p:nvSpPr>
          <p:cNvPr id="21" name="Text 16"/>
          <p:cNvSpPr/>
          <p:nvPr/>
        </p:nvSpPr>
        <p:spPr>
          <a:xfrm>
            <a:off x="4940379" y="5424011"/>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稳健消费 + 科技成长 + 全球资产分散配置</a:t>
            </a:r>
            <a:endParaRPr lang="en-US" sz="1750" dirty="0"/>
          </a:p>
        </p:txBody>
      </p:sp>
      <p:sp>
        <p:nvSpPr>
          <p:cNvPr id="22" name="Shape 17"/>
          <p:cNvSpPr/>
          <p:nvPr/>
        </p:nvSpPr>
        <p:spPr>
          <a:xfrm>
            <a:off x="801410" y="5930622"/>
            <a:ext cx="13027581" cy="650319"/>
          </a:xfrm>
          <a:prstGeom prst="rect">
            <a:avLst/>
          </a:prstGeom>
          <a:solidFill>
            <a:srgbClr val="000000">
              <a:alpha val="4000"/>
            </a:srgbClr>
          </a:solidFill>
          <a:ln/>
        </p:spPr>
      </p:sp>
      <p:sp>
        <p:nvSpPr>
          <p:cNvPr id="23" name="Text 18"/>
          <p:cNvSpPr/>
          <p:nvPr/>
        </p:nvSpPr>
        <p:spPr>
          <a:xfrm>
            <a:off x="1028343" y="6074331"/>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业绩基准</a:t>
            </a:r>
            <a:endParaRPr lang="en-US" sz="1750" dirty="0"/>
          </a:p>
        </p:txBody>
      </p:sp>
      <p:sp>
        <p:nvSpPr>
          <p:cNvPr id="24" name="Text 19"/>
          <p:cNvSpPr/>
          <p:nvPr/>
        </p:nvSpPr>
        <p:spPr>
          <a:xfrm>
            <a:off x="4940379" y="6074331"/>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沪深300指数×40% + 恒生指数×30% + 标普500指数×30%</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840480" cy="8229600"/>
          </a:xfrm>
          <a:prstGeom prst="rect">
            <a:avLst/>
          </a:prstGeom>
        </p:spPr>
      </p:pic>
      <p:sp>
        <p:nvSpPr>
          <p:cNvPr id="3" name="Text 0"/>
          <p:cNvSpPr/>
          <p:nvPr/>
        </p:nvSpPr>
        <p:spPr>
          <a:xfrm>
            <a:off x="4451390" y="874514"/>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1E5CD"/>
                </a:solidFill>
                <a:latin typeface="Outfit Bold" pitchFamily="34" charset="0"/>
                <a:ea typeface="Outfit Bold" pitchFamily="34" charset="-122"/>
                <a:cs typeface="Outfit Bold" pitchFamily="34" charset="-120"/>
              </a:rPr>
              <a:t>主要财务指标表现</a:t>
            </a:r>
            <a:endParaRPr lang="en-US" sz="4450" dirty="0"/>
          </a:p>
        </p:txBody>
      </p:sp>
      <p:sp>
        <p:nvSpPr>
          <p:cNvPr id="4" name="Text 1"/>
          <p:cNvSpPr/>
          <p:nvPr/>
        </p:nvSpPr>
        <p:spPr>
          <a:xfrm>
            <a:off x="4451390" y="2036802"/>
            <a:ext cx="2939415" cy="748427"/>
          </a:xfrm>
          <a:prstGeom prst="rect">
            <a:avLst/>
          </a:prstGeom>
          <a:noFill/>
          <a:ln/>
        </p:spPr>
        <p:txBody>
          <a:bodyPr wrap="none" lIns="0" tIns="0" rIns="0" bIns="0" rtlCol="0" anchor="t"/>
          <a:lstStyle/>
          <a:p>
            <a:pPr algn="ctr" indent="0" marL="0">
              <a:lnSpc>
                <a:spcPts val="5850"/>
              </a:lnSpc>
              <a:buNone/>
            </a:pPr>
            <a:r>
              <a:rPr lang="en-US" sz="5850" b="1" dirty="0">
                <a:solidFill>
                  <a:srgbClr val="C2C4B5"/>
                </a:solidFill>
                <a:latin typeface="Outfit Bold" pitchFamily="34" charset="0"/>
                <a:ea typeface="Outfit Bold" pitchFamily="34" charset="-122"/>
                <a:cs typeface="Outfit Bold" pitchFamily="34" charset="-120"/>
              </a:rPr>
              <a:t>34,654</a:t>
            </a:r>
            <a:endParaRPr lang="en-US" sz="5850" dirty="0"/>
          </a:p>
        </p:txBody>
      </p:sp>
      <p:sp>
        <p:nvSpPr>
          <p:cNvPr id="5" name="Text 2"/>
          <p:cNvSpPr/>
          <p:nvPr/>
        </p:nvSpPr>
        <p:spPr>
          <a:xfrm>
            <a:off x="4503420" y="3068598"/>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本期收益</a:t>
            </a:r>
            <a:endParaRPr lang="en-US" sz="2200" dirty="0"/>
          </a:p>
        </p:txBody>
      </p:sp>
      <p:sp>
        <p:nvSpPr>
          <p:cNvPr id="6" name="Text 3"/>
          <p:cNvSpPr/>
          <p:nvPr/>
        </p:nvSpPr>
        <p:spPr>
          <a:xfrm>
            <a:off x="4451390" y="3559016"/>
            <a:ext cx="2939415" cy="362903"/>
          </a:xfrm>
          <a:prstGeom prst="rect">
            <a:avLst/>
          </a:prstGeom>
          <a:noFill/>
          <a:ln/>
        </p:spPr>
        <p:txBody>
          <a:bodyPr wrap="none" lIns="0" tIns="0" rIns="0" bIns="0" rtlCol="0" anchor="t"/>
          <a:lstStyle/>
          <a:p>
            <a:pPr algn="ctr" indent="0" marL="0">
              <a:lnSpc>
                <a:spcPts val="2850"/>
              </a:lnSpc>
              <a:buNone/>
            </a:pPr>
            <a:r>
              <a:rPr lang="en-US" sz="1750" dirty="0">
                <a:solidFill>
                  <a:srgbClr val="C2C4B5"/>
                </a:solidFill>
                <a:latin typeface="Bitter" pitchFamily="34" charset="0"/>
                <a:ea typeface="Bitter" pitchFamily="34" charset="-122"/>
                <a:cs typeface="Bitter" pitchFamily="34" charset="-120"/>
              </a:rPr>
              <a:t>人民币元</a:t>
            </a:r>
            <a:endParaRPr lang="en-US" sz="1750" dirty="0"/>
          </a:p>
        </p:txBody>
      </p:sp>
      <p:sp>
        <p:nvSpPr>
          <p:cNvPr id="7" name="Text 4"/>
          <p:cNvSpPr/>
          <p:nvPr/>
        </p:nvSpPr>
        <p:spPr>
          <a:xfrm>
            <a:off x="7674293" y="2036802"/>
            <a:ext cx="2939415" cy="748427"/>
          </a:xfrm>
          <a:prstGeom prst="rect">
            <a:avLst/>
          </a:prstGeom>
          <a:noFill/>
          <a:ln/>
        </p:spPr>
        <p:txBody>
          <a:bodyPr wrap="none" lIns="0" tIns="0" rIns="0" bIns="0" rtlCol="0" anchor="t"/>
          <a:lstStyle/>
          <a:p>
            <a:pPr algn="ctr" indent="0" marL="0">
              <a:lnSpc>
                <a:spcPts val="5850"/>
              </a:lnSpc>
              <a:buNone/>
            </a:pPr>
            <a:r>
              <a:rPr lang="en-US" sz="5850" b="1" dirty="0">
                <a:solidFill>
                  <a:srgbClr val="C2C4B5"/>
                </a:solidFill>
                <a:latin typeface="Outfit Bold" pitchFamily="34" charset="0"/>
                <a:ea typeface="Outfit Bold" pitchFamily="34" charset="-122"/>
                <a:cs typeface="Outfit Bold" pitchFamily="34" charset="-120"/>
              </a:rPr>
              <a:t>43,276</a:t>
            </a:r>
            <a:endParaRPr lang="en-US" sz="5850" dirty="0"/>
          </a:p>
        </p:txBody>
      </p:sp>
      <p:sp>
        <p:nvSpPr>
          <p:cNvPr id="8" name="Text 5"/>
          <p:cNvSpPr/>
          <p:nvPr/>
        </p:nvSpPr>
        <p:spPr>
          <a:xfrm>
            <a:off x="7726323" y="3068598"/>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成立以来收益</a:t>
            </a:r>
            <a:endParaRPr lang="en-US" sz="2200" dirty="0"/>
          </a:p>
        </p:txBody>
      </p:sp>
      <p:sp>
        <p:nvSpPr>
          <p:cNvPr id="9" name="Text 6"/>
          <p:cNvSpPr/>
          <p:nvPr/>
        </p:nvSpPr>
        <p:spPr>
          <a:xfrm>
            <a:off x="7674293" y="3559016"/>
            <a:ext cx="2939415" cy="362903"/>
          </a:xfrm>
          <a:prstGeom prst="rect">
            <a:avLst/>
          </a:prstGeom>
          <a:noFill/>
          <a:ln/>
        </p:spPr>
        <p:txBody>
          <a:bodyPr wrap="none" lIns="0" tIns="0" rIns="0" bIns="0" rtlCol="0" anchor="t"/>
          <a:lstStyle/>
          <a:p>
            <a:pPr algn="ctr" indent="0" marL="0">
              <a:lnSpc>
                <a:spcPts val="2850"/>
              </a:lnSpc>
              <a:buNone/>
            </a:pPr>
            <a:r>
              <a:rPr lang="en-US" sz="1750" dirty="0">
                <a:solidFill>
                  <a:srgbClr val="C2C4B5"/>
                </a:solidFill>
                <a:latin typeface="Bitter" pitchFamily="34" charset="0"/>
                <a:ea typeface="Bitter" pitchFamily="34" charset="-122"/>
                <a:cs typeface="Bitter" pitchFamily="34" charset="-120"/>
              </a:rPr>
              <a:t>人民币元</a:t>
            </a:r>
            <a:endParaRPr lang="en-US" sz="1750" dirty="0"/>
          </a:p>
        </p:txBody>
      </p:sp>
      <p:sp>
        <p:nvSpPr>
          <p:cNvPr id="10" name="Text 7"/>
          <p:cNvSpPr/>
          <p:nvPr/>
        </p:nvSpPr>
        <p:spPr>
          <a:xfrm>
            <a:off x="10897195" y="2036802"/>
            <a:ext cx="2939415" cy="748427"/>
          </a:xfrm>
          <a:prstGeom prst="rect">
            <a:avLst/>
          </a:prstGeom>
          <a:noFill/>
          <a:ln/>
        </p:spPr>
        <p:txBody>
          <a:bodyPr wrap="none" lIns="0" tIns="0" rIns="0" bIns="0" rtlCol="0" anchor="t"/>
          <a:lstStyle/>
          <a:p>
            <a:pPr algn="ctr" indent="0" marL="0">
              <a:lnSpc>
                <a:spcPts val="5850"/>
              </a:lnSpc>
              <a:buNone/>
            </a:pPr>
            <a:r>
              <a:rPr lang="en-US" sz="5850" b="1" dirty="0">
                <a:solidFill>
                  <a:srgbClr val="C2C4B5"/>
                </a:solidFill>
                <a:latin typeface="Outfit Bold" pitchFamily="34" charset="0"/>
                <a:ea typeface="Outfit Bold" pitchFamily="34" charset="-122"/>
                <a:cs typeface="Outfit Bold" pitchFamily="34" charset="-120"/>
              </a:rPr>
              <a:t>490,872</a:t>
            </a:r>
            <a:endParaRPr lang="en-US" sz="5850" dirty="0"/>
          </a:p>
        </p:txBody>
      </p:sp>
      <p:sp>
        <p:nvSpPr>
          <p:cNvPr id="11" name="Text 8"/>
          <p:cNvSpPr/>
          <p:nvPr/>
        </p:nvSpPr>
        <p:spPr>
          <a:xfrm>
            <a:off x="10949226" y="3068598"/>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期末净值</a:t>
            </a:r>
            <a:endParaRPr lang="en-US" sz="2200" dirty="0"/>
          </a:p>
        </p:txBody>
      </p:sp>
      <p:sp>
        <p:nvSpPr>
          <p:cNvPr id="12" name="Text 9"/>
          <p:cNvSpPr/>
          <p:nvPr/>
        </p:nvSpPr>
        <p:spPr>
          <a:xfrm>
            <a:off x="10897195" y="3559016"/>
            <a:ext cx="2939415" cy="362903"/>
          </a:xfrm>
          <a:prstGeom prst="rect">
            <a:avLst/>
          </a:prstGeom>
          <a:noFill/>
          <a:ln/>
        </p:spPr>
        <p:txBody>
          <a:bodyPr wrap="none" lIns="0" tIns="0" rIns="0" bIns="0" rtlCol="0" anchor="t"/>
          <a:lstStyle/>
          <a:p>
            <a:pPr algn="ctr" indent="0" marL="0">
              <a:lnSpc>
                <a:spcPts val="2850"/>
              </a:lnSpc>
              <a:buNone/>
            </a:pPr>
            <a:r>
              <a:rPr lang="en-US" sz="1750" dirty="0">
                <a:solidFill>
                  <a:srgbClr val="C2C4B5"/>
                </a:solidFill>
                <a:latin typeface="Bitter" pitchFamily="34" charset="0"/>
                <a:ea typeface="Bitter" pitchFamily="34" charset="-122"/>
                <a:cs typeface="Bitter" pitchFamily="34" charset="-120"/>
              </a:rPr>
              <a:t>人民币元</a:t>
            </a:r>
            <a:endParaRPr lang="en-US" sz="1750" dirty="0"/>
          </a:p>
        </p:txBody>
      </p:sp>
      <p:sp>
        <p:nvSpPr>
          <p:cNvPr id="13" name="Text 10"/>
          <p:cNvSpPr/>
          <p:nvPr/>
        </p:nvSpPr>
        <p:spPr>
          <a:xfrm>
            <a:off x="7674293" y="4488894"/>
            <a:ext cx="2939415" cy="748427"/>
          </a:xfrm>
          <a:prstGeom prst="rect">
            <a:avLst/>
          </a:prstGeom>
          <a:noFill/>
          <a:ln/>
        </p:spPr>
        <p:txBody>
          <a:bodyPr wrap="none" lIns="0" tIns="0" rIns="0" bIns="0" rtlCol="0" anchor="t"/>
          <a:lstStyle/>
          <a:p>
            <a:pPr algn="ctr" indent="0" marL="0">
              <a:lnSpc>
                <a:spcPts val="5850"/>
              </a:lnSpc>
              <a:buNone/>
            </a:pPr>
            <a:r>
              <a:rPr lang="en-US" sz="5850" b="1" dirty="0">
                <a:solidFill>
                  <a:srgbClr val="C2C4B5"/>
                </a:solidFill>
                <a:latin typeface="Outfit Bold" pitchFamily="34" charset="0"/>
                <a:ea typeface="Outfit Bold" pitchFamily="34" charset="-122"/>
                <a:cs typeface="Outfit Bold" pitchFamily="34" charset="-120"/>
              </a:rPr>
              <a:t>1.129</a:t>
            </a:r>
            <a:endParaRPr lang="en-US" sz="5850" dirty="0"/>
          </a:p>
        </p:txBody>
      </p:sp>
      <p:sp>
        <p:nvSpPr>
          <p:cNvPr id="14" name="Text 11"/>
          <p:cNvSpPr/>
          <p:nvPr/>
        </p:nvSpPr>
        <p:spPr>
          <a:xfrm>
            <a:off x="7726323" y="5520690"/>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单位净值</a:t>
            </a:r>
            <a:endParaRPr lang="en-US" sz="2200" dirty="0"/>
          </a:p>
        </p:txBody>
      </p:sp>
      <p:sp>
        <p:nvSpPr>
          <p:cNvPr id="15" name="Text 12"/>
          <p:cNvSpPr/>
          <p:nvPr/>
        </p:nvSpPr>
        <p:spPr>
          <a:xfrm>
            <a:off x="7674293" y="6011108"/>
            <a:ext cx="2939415" cy="362903"/>
          </a:xfrm>
          <a:prstGeom prst="rect">
            <a:avLst/>
          </a:prstGeom>
          <a:noFill/>
          <a:ln/>
        </p:spPr>
        <p:txBody>
          <a:bodyPr wrap="none" lIns="0" tIns="0" rIns="0" bIns="0" rtlCol="0" anchor="t"/>
          <a:lstStyle/>
          <a:p>
            <a:pPr algn="ctr" indent="0" marL="0">
              <a:lnSpc>
                <a:spcPts val="2850"/>
              </a:lnSpc>
              <a:buNone/>
            </a:pPr>
            <a:r>
              <a:rPr lang="en-US" sz="1750" dirty="0">
                <a:solidFill>
                  <a:srgbClr val="C2C4B5"/>
                </a:solidFill>
                <a:latin typeface="Bitter" pitchFamily="34" charset="0"/>
                <a:ea typeface="Bitter" pitchFamily="34" charset="-122"/>
                <a:cs typeface="Bitter" pitchFamily="34" charset="-120"/>
              </a:rPr>
              <a:t>每份基金份额</a:t>
            </a:r>
            <a:endParaRPr lang="en-US" sz="1750" dirty="0"/>
          </a:p>
        </p:txBody>
      </p:sp>
      <p:sp>
        <p:nvSpPr>
          <p:cNvPr id="16" name="Text 13"/>
          <p:cNvSpPr/>
          <p:nvPr/>
        </p:nvSpPr>
        <p:spPr>
          <a:xfrm>
            <a:off x="4451390" y="6629162"/>
            <a:ext cx="9385221" cy="725805"/>
          </a:xfrm>
          <a:prstGeom prst="rect">
            <a:avLst/>
          </a:prstGeom>
          <a:noFill/>
          <a:ln/>
        </p:spPr>
        <p:txBody>
          <a:bodyPr wrap="squar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本期基金运作平稳,净值保持稳健增长态势。通过积极的资产配置和精选个股策略,基金在市场波动中获得正向收益,为投资者创造了良好的回报。</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011942" y="430530"/>
            <a:ext cx="3754279" cy="469225"/>
          </a:xfrm>
          <a:prstGeom prst="rect">
            <a:avLst/>
          </a:prstGeom>
          <a:noFill/>
          <a:ln/>
        </p:spPr>
        <p:txBody>
          <a:bodyPr wrap="none" lIns="0" tIns="0" rIns="0" bIns="0" rtlCol="0" anchor="t"/>
          <a:lstStyle/>
          <a:p>
            <a:pPr algn="l" indent="0" marL="0">
              <a:lnSpc>
                <a:spcPts val="3650"/>
              </a:lnSpc>
              <a:buNone/>
            </a:pPr>
            <a:r>
              <a:rPr lang="en-US" sz="2950" b="1" dirty="0">
                <a:solidFill>
                  <a:srgbClr val="E1E5CD"/>
                </a:solidFill>
                <a:latin typeface="Outfit Bold" pitchFamily="34" charset="0"/>
                <a:ea typeface="Outfit Bold" pitchFamily="34" charset="-122"/>
                <a:cs typeface="Outfit Bold" pitchFamily="34" charset="-120"/>
              </a:rPr>
              <a:t>投资组合调整策略</a:t>
            </a:r>
            <a:endParaRPr lang="en-US" sz="2950" dirty="0"/>
          </a:p>
        </p:txBody>
      </p:sp>
      <p:sp>
        <p:nvSpPr>
          <p:cNvPr id="4" name="Shape 1"/>
          <p:cNvSpPr/>
          <p:nvPr/>
        </p:nvSpPr>
        <p:spPr>
          <a:xfrm>
            <a:off x="6011942" y="1124903"/>
            <a:ext cx="8092916" cy="1555909"/>
          </a:xfrm>
          <a:prstGeom prst="roundRect">
            <a:avLst>
              <a:gd name="adj" fmla="val 1448"/>
            </a:avLst>
          </a:prstGeom>
          <a:solidFill>
            <a:srgbClr val="1C1D1F"/>
          </a:solidFill>
          <a:ln w="15240">
            <a:solidFill>
              <a:srgbClr val="545557"/>
            </a:solidFill>
            <a:prstDash val="solid"/>
          </a:ln>
        </p:spPr>
      </p:sp>
      <p:sp>
        <p:nvSpPr>
          <p:cNvPr id="5" name="Shape 2"/>
          <p:cNvSpPr/>
          <p:nvPr/>
        </p:nvSpPr>
        <p:spPr>
          <a:xfrm>
            <a:off x="6027182" y="1140143"/>
            <a:ext cx="600670" cy="1525429"/>
          </a:xfrm>
          <a:prstGeom prst="roundRect">
            <a:avLst>
              <a:gd name="adj" fmla="val 706"/>
            </a:avLst>
          </a:prstGeom>
          <a:solidFill>
            <a:srgbClr val="3B3C3E"/>
          </a:solidFill>
          <a:ln/>
        </p:spPr>
      </p:sp>
      <p:sp>
        <p:nvSpPr>
          <p:cNvPr id="6" name="Text 3"/>
          <p:cNvSpPr/>
          <p:nvPr/>
        </p:nvSpPr>
        <p:spPr>
          <a:xfrm>
            <a:off x="6214943" y="1762125"/>
            <a:ext cx="225147" cy="281464"/>
          </a:xfrm>
          <a:prstGeom prst="rect">
            <a:avLst/>
          </a:prstGeom>
          <a:noFill/>
          <a:ln/>
        </p:spPr>
        <p:txBody>
          <a:bodyPr wrap="none" lIns="0" tIns="0" rIns="0" bIns="0" rtlCol="0" anchor="t"/>
          <a:lstStyle/>
          <a:p>
            <a:pPr algn="l"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1</a:t>
            </a:r>
            <a:endParaRPr lang="en-US" sz="1750" dirty="0"/>
          </a:p>
        </p:txBody>
      </p:sp>
      <p:sp>
        <p:nvSpPr>
          <p:cNvPr id="7" name="Text 4"/>
          <p:cNvSpPr/>
          <p:nvPr/>
        </p:nvSpPr>
        <p:spPr>
          <a:xfrm>
            <a:off x="6777990" y="1290280"/>
            <a:ext cx="1877139" cy="234672"/>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稳健消费股加仓</a:t>
            </a:r>
            <a:endParaRPr lang="en-US" sz="1450" dirty="0"/>
          </a:p>
        </p:txBody>
      </p:sp>
      <p:sp>
        <p:nvSpPr>
          <p:cNvPr id="8" name="Text 5"/>
          <p:cNvSpPr/>
          <p:nvPr/>
        </p:nvSpPr>
        <p:spPr>
          <a:xfrm>
            <a:off x="6777990" y="1614964"/>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持仓:</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百胜中国、蒙牛乳业、海底捞</a:t>
            </a:r>
            <a:endParaRPr lang="en-US" sz="1150" dirty="0"/>
          </a:p>
        </p:txBody>
      </p:sp>
      <p:sp>
        <p:nvSpPr>
          <p:cNvPr id="9" name="Text 6"/>
          <p:cNvSpPr/>
          <p:nvPr/>
        </p:nvSpPr>
        <p:spPr>
          <a:xfrm>
            <a:off x="6777990" y="1945124"/>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逻辑:</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低估值叠加高分红,稳定现金流支撑长期价值</a:t>
            </a:r>
            <a:endParaRPr lang="en-US" sz="1150" dirty="0"/>
          </a:p>
        </p:txBody>
      </p:sp>
      <p:sp>
        <p:nvSpPr>
          <p:cNvPr id="10" name="Text 7"/>
          <p:cNvSpPr/>
          <p:nvPr/>
        </p:nvSpPr>
        <p:spPr>
          <a:xfrm>
            <a:off x="6777990" y="2275284"/>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净值贡献: +1.2%</a:t>
            </a:r>
            <a:endParaRPr lang="en-US" sz="1150" dirty="0"/>
          </a:p>
        </p:txBody>
      </p:sp>
      <p:sp>
        <p:nvSpPr>
          <p:cNvPr id="11" name="Shape 8"/>
          <p:cNvSpPr/>
          <p:nvPr/>
        </p:nvSpPr>
        <p:spPr>
          <a:xfrm>
            <a:off x="6011942" y="2830949"/>
            <a:ext cx="8092916" cy="1555909"/>
          </a:xfrm>
          <a:prstGeom prst="roundRect">
            <a:avLst>
              <a:gd name="adj" fmla="val 1448"/>
            </a:avLst>
          </a:prstGeom>
          <a:solidFill>
            <a:srgbClr val="1C1D1F"/>
          </a:solidFill>
          <a:ln w="15240">
            <a:solidFill>
              <a:srgbClr val="545557"/>
            </a:solidFill>
            <a:prstDash val="solid"/>
          </a:ln>
        </p:spPr>
      </p:sp>
      <p:sp>
        <p:nvSpPr>
          <p:cNvPr id="12" name="Shape 9"/>
          <p:cNvSpPr/>
          <p:nvPr/>
        </p:nvSpPr>
        <p:spPr>
          <a:xfrm>
            <a:off x="6027182" y="2846189"/>
            <a:ext cx="600670" cy="1525429"/>
          </a:xfrm>
          <a:prstGeom prst="roundRect">
            <a:avLst>
              <a:gd name="adj" fmla="val 706"/>
            </a:avLst>
          </a:prstGeom>
          <a:solidFill>
            <a:srgbClr val="3B3C3E"/>
          </a:solidFill>
          <a:ln/>
        </p:spPr>
      </p:sp>
      <p:sp>
        <p:nvSpPr>
          <p:cNvPr id="13" name="Text 10"/>
          <p:cNvSpPr/>
          <p:nvPr/>
        </p:nvSpPr>
        <p:spPr>
          <a:xfrm>
            <a:off x="6214943" y="3468172"/>
            <a:ext cx="225147" cy="281464"/>
          </a:xfrm>
          <a:prstGeom prst="rect">
            <a:avLst/>
          </a:prstGeom>
          <a:noFill/>
          <a:ln/>
        </p:spPr>
        <p:txBody>
          <a:bodyPr wrap="none" lIns="0" tIns="0" rIns="0" bIns="0" rtlCol="0" anchor="t"/>
          <a:lstStyle/>
          <a:p>
            <a:pPr algn="l"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2</a:t>
            </a:r>
            <a:endParaRPr lang="en-US" sz="1750" dirty="0"/>
          </a:p>
        </p:txBody>
      </p:sp>
      <p:sp>
        <p:nvSpPr>
          <p:cNvPr id="14" name="Text 11"/>
          <p:cNvSpPr/>
          <p:nvPr/>
        </p:nvSpPr>
        <p:spPr>
          <a:xfrm>
            <a:off x="6777990" y="2996327"/>
            <a:ext cx="1877139" cy="234672"/>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科技成长股布局</a:t>
            </a:r>
            <a:endParaRPr lang="en-US" sz="1450" dirty="0"/>
          </a:p>
        </p:txBody>
      </p:sp>
      <p:sp>
        <p:nvSpPr>
          <p:cNvPr id="15" name="Text 12"/>
          <p:cNvSpPr/>
          <p:nvPr/>
        </p:nvSpPr>
        <p:spPr>
          <a:xfrm>
            <a:off x="6777990" y="3321010"/>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持仓:</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美团-W、阿里巴巴-W、英伟达</a:t>
            </a:r>
            <a:endParaRPr lang="en-US" sz="1150" dirty="0"/>
          </a:p>
        </p:txBody>
      </p:sp>
      <p:sp>
        <p:nvSpPr>
          <p:cNvPr id="16" name="Text 13"/>
          <p:cNvSpPr/>
          <p:nvPr/>
        </p:nvSpPr>
        <p:spPr>
          <a:xfrm>
            <a:off x="6777990" y="3651171"/>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逻辑:</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分批买入阶段性低估值标的,把握成长潜力</a:t>
            </a:r>
            <a:endParaRPr lang="en-US" sz="1150" dirty="0"/>
          </a:p>
        </p:txBody>
      </p:sp>
      <p:sp>
        <p:nvSpPr>
          <p:cNvPr id="17" name="Text 14"/>
          <p:cNvSpPr/>
          <p:nvPr/>
        </p:nvSpPr>
        <p:spPr>
          <a:xfrm>
            <a:off x="6777990" y="3981331"/>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净值贡献: +0.8%</a:t>
            </a:r>
            <a:endParaRPr lang="en-US" sz="1150" dirty="0"/>
          </a:p>
        </p:txBody>
      </p:sp>
      <p:sp>
        <p:nvSpPr>
          <p:cNvPr id="18" name="Shape 15"/>
          <p:cNvSpPr/>
          <p:nvPr/>
        </p:nvSpPr>
        <p:spPr>
          <a:xfrm>
            <a:off x="6011942" y="4536996"/>
            <a:ext cx="8092916" cy="1555909"/>
          </a:xfrm>
          <a:prstGeom prst="roundRect">
            <a:avLst>
              <a:gd name="adj" fmla="val 1448"/>
            </a:avLst>
          </a:prstGeom>
          <a:solidFill>
            <a:srgbClr val="1C1D1F"/>
          </a:solidFill>
          <a:ln w="15240">
            <a:solidFill>
              <a:srgbClr val="545557"/>
            </a:solidFill>
            <a:prstDash val="solid"/>
          </a:ln>
        </p:spPr>
      </p:sp>
      <p:sp>
        <p:nvSpPr>
          <p:cNvPr id="19" name="Shape 16"/>
          <p:cNvSpPr/>
          <p:nvPr/>
        </p:nvSpPr>
        <p:spPr>
          <a:xfrm>
            <a:off x="6027182" y="4552236"/>
            <a:ext cx="600670" cy="1525429"/>
          </a:xfrm>
          <a:prstGeom prst="roundRect">
            <a:avLst>
              <a:gd name="adj" fmla="val 706"/>
            </a:avLst>
          </a:prstGeom>
          <a:solidFill>
            <a:srgbClr val="3B3C3E"/>
          </a:solidFill>
          <a:ln/>
        </p:spPr>
      </p:sp>
      <p:sp>
        <p:nvSpPr>
          <p:cNvPr id="20" name="Text 17"/>
          <p:cNvSpPr/>
          <p:nvPr/>
        </p:nvSpPr>
        <p:spPr>
          <a:xfrm>
            <a:off x="6214943" y="5174218"/>
            <a:ext cx="225147" cy="281464"/>
          </a:xfrm>
          <a:prstGeom prst="rect">
            <a:avLst/>
          </a:prstGeom>
          <a:noFill/>
          <a:ln/>
        </p:spPr>
        <p:txBody>
          <a:bodyPr wrap="none" lIns="0" tIns="0" rIns="0" bIns="0" rtlCol="0" anchor="t"/>
          <a:lstStyle/>
          <a:p>
            <a:pPr algn="l"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3</a:t>
            </a:r>
            <a:endParaRPr lang="en-US" sz="1750" dirty="0"/>
          </a:p>
        </p:txBody>
      </p:sp>
      <p:sp>
        <p:nvSpPr>
          <p:cNvPr id="21" name="Text 18"/>
          <p:cNvSpPr/>
          <p:nvPr/>
        </p:nvSpPr>
        <p:spPr>
          <a:xfrm>
            <a:off x="6777990" y="4702373"/>
            <a:ext cx="1877139" cy="234672"/>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全球配置分散</a:t>
            </a:r>
            <a:endParaRPr lang="en-US" sz="1450" dirty="0"/>
          </a:p>
        </p:txBody>
      </p:sp>
      <p:sp>
        <p:nvSpPr>
          <p:cNvPr id="22" name="Text 19"/>
          <p:cNvSpPr/>
          <p:nvPr/>
        </p:nvSpPr>
        <p:spPr>
          <a:xfrm>
            <a:off x="6777990" y="5027057"/>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持仓:</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联合健康、谷歌等美股优质标的</a:t>
            </a:r>
            <a:endParaRPr lang="en-US" sz="1150" dirty="0"/>
          </a:p>
        </p:txBody>
      </p:sp>
      <p:sp>
        <p:nvSpPr>
          <p:cNvPr id="23" name="Text 20"/>
          <p:cNvSpPr/>
          <p:nvPr/>
        </p:nvSpPr>
        <p:spPr>
          <a:xfrm>
            <a:off x="6777990" y="5357217"/>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逻辑:</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分散单一市场风险,优化组合抗风险能力</a:t>
            </a:r>
            <a:endParaRPr lang="en-US" sz="1150" dirty="0"/>
          </a:p>
        </p:txBody>
      </p:sp>
      <p:sp>
        <p:nvSpPr>
          <p:cNvPr id="24" name="Text 21"/>
          <p:cNvSpPr/>
          <p:nvPr/>
        </p:nvSpPr>
        <p:spPr>
          <a:xfrm>
            <a:off x="6777990" y="5687378"/>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净值贡献: +0.5%</a:t>
            </a:r>
            <a:endParaRPr lang="en-US" sz="1150" dirty="0"/>
          </a:p>
        </p:txBody>
      </p:sp>
      <p:sp>
        <p:nvSpPr>
          <p:cNvPr id="25" name="Shape 22"/>
          <p:cNvSpPr/>
          <p:nvPr/>
        </p:nvSpPr>
        <p:spPr>
          <a:xfrm>
            <a:off x="6011942" y="6243042"/>
            <a:ext cx="8092916" cy="1555909"/>
          </a:xfrm>
          <a:prstGeom prst="roundRect">
            <a:avLst>
              <a:gd name="adj" fmla="val 1448"/>
            </a:avLst>
          </a:prstGeom>
          <a:solidFill>
            <a:srgbClr val="1C1D1F"/>
          </a:solidFill>
          <a:ln w="15240">
            <a:solidFill>
              <a:srgbClr val="545557"/>
            </a:solidFill>
            <a:prstDash val="solid"/>
          </a:ln>
        </p:spPr>
      </p:sp>
      <p:sp>
        <p:nvSpPr>
          <p:cNvPr id="26" name="Shape 23"/>
          <p:cNvSpPr/>
          <p:nvPr/>
        </p:nvSpPr>
        <p:spPr>
          <a:xfrm>
            <a:off x="6027182" y="6258282"/>
            <a:ext cx="600670" cy="1525429"/>
          </a:xfrm>
          <a:prstGeom prst="roundRect">
            <a:avLst>
              <a:gd name="adj" fmla="val 706"/>
            </a:avLst>
          </a:prstGeom>
          <a:solidFill>
            <a:srgbClr val="3B3C3E"/>
          </a:solidFill>
          <a:ln/>
        </p:spPr>
      </p:sp>
      <p:sp>
        <p:nvSpPr>
          <p:cNvPr id="27" name="Text 24"/>
          <p:cNvSpPr/>
          <p:nvPr/>
        </p:nvSpPr>
        <p:spPr>
          <a:xfrm>
            <a:off x="6214943" y="6880265"/>
            <a:ext cx="225147" cy="281464"/>
          </a:xfrm>
          <a:prstGeom prst="rect">
            <a:avLst/>
          </a:prstGeom>
          <a:noFill/>
          <a:ln/>
        </p:spPr>
        <p:txBody>
          <a:bodyPr wrap="none" lIns="0" tIns="0" rIns="0" bIns="0" rtlCol="0" anchor="t"/>
          <a:lstStyle/>
          <a:p>
            <a:pPr algn="l"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4</a:t>
            </a:r>
            <a:endParaRPr lang="en-US" sz="1750" dirty="0"/>
          </a:p>
        </p:txBody>
      </p:sp>
      <p:sp>
        <p:nvSpPr>
          <p:cNvPr id="28" name="Text 25"/>
          <p:cNvSpPr/>
          <p:nvPr/>
        </p:nvSpPr>
        <p:spPr>
          <a:xfrm>
            <a:off x="6777990" y="6408420"/>
            <a:ext cx="1877139" cy="234672"/>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分红再投资</a:t>
            </a:r>
            <a:endParaRPr lang="en-US" sz="1450" dirty="0"/>
          </a:p>
        </p:txBody>
      </p:sp>
      <p:sp>
        <p:nvSpPr>
          <p:cNvPr id="29" name="Text 26"/>
          <p:cNvSpPr/>
          <p:nvPr/>
        </p:nvSpPr>
        <p:spPr>
          <a:xfrm>
            <a:off x="6777990" y="6733103"/>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持仓:</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海康威视、台积电分红再投入</a:t>
            </a:r>
            <a:endParaRPr lang="en-US" sz="1150" dirty="0"/>
          </a:p>
        </p:txBody>
      </p:sp>
      <p:sp>
        <p:nvSpPr>
          <p:cNvPr id="30" name="Text 27"/>
          <p:cNvSpPr/>
          <p:nvPr/>
        </p:nvSpPr>
        <p:spPr>
          <a:xfrm>
            <a:off x="6777990" y="7063264"/>
            <a:ext cx="7311628" cy="240149"/>
          </a:xfrm>
          <a:prstGeom prst="rect">
            <a:avLst/>
          </a:prstGeom>
          <a:noFill/>
          <a:ln/>
        </p:spPr>
        <p:txBody>
          <a:bodyPr wrap="none" lIns="0" tIns="0" rIns="0" bIns="0" rtlCol="0" anchor="t"/>
          <a:lstStyle/>
          <a:p>
            <a:pPr algn="l" indent="0" marL="0">
              <a:lnSpc>
                <a:spcPts val="1850"/>
              </a:lnSpc>
              <a:buNone/>
            </a:pPr>
            <a:r>
              <a:rPr lang="en-US" sz="1150" b="1" dirty="0">
                <a:solidFill>
                  <a:srgbClr val="C2C4B5"/>
                </a:solidFill>
                <a:latin typeface="Bitter" pitchFamily="34" charset="0"/>
                <a:ea typeface="Bitter" pitchFamily="34" charset="-122"/>
                <a:cs typeface="Bitter" pitchFamily="34" charset="-120"/>
              </a:rPr>
              <a:t>逻辑:</a:t>
            </a:r>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 增强复利效应,提升长期收益水平</a:t>
            </a:r>
            <a:endParaRPr lang="en-US" sz="1150" dirty="0"/>
          </a:p>
        </p:txBody>
      </p:sp>
      <p:sp>
        <p:nvSpPr>
          <p:cNvPr id="31" name="Text 28"/>
          <p:cNvSpPr/>
          <p:nvPr/>
        </p:nvSpPr>
        <p:spPr>
          <a:xfrm>
            <a:off x="6777990" y="7393424"/>
            <a:ext cx="7311628" cy="240149"/>
          </a:xfrm>
          <a:prstGeom prst="rect">
            <a:avLst/>
          </a:prstGeom>
          <a:noFill/>
          <a:ln/>
        </p:spPr>
        <p:txBody>
          <a:bodyPr wrap="none" lIns="0" tIns="0" rIns="0" bIns="0" rtlCol="0" anchor="t"/>
          <a:lstStyle/>
          <a:p>
            <a:pPr algn="l" indent="0" marL="0">
              <a:lnSpc>
                <a:spcPts val="1850"/>
              </a:lnSpc>
              <a:buNone/>
            </a:pPr>
            <a:r>
              <a:rPr lang="en-US" sz="1150" dirty="0">
                <a:solidFill>
                  <a:srgbClr val="C2C4B5"/>
                </a:solidFill>
                <a:latin typeface="Bitter" pitchFamily="34" charset="0"/>
                <a:ea typeface="Bitter" pitchFamily="34" charset="-122"/>
                <a:cs typeface="Bitter" pitchFamily="34" charset="-120"/>
              </a:rPr>
              <a:t>净值贡献: +0.3%</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86627"/>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1E5CD"/>
                </a:solidFill>
                <a:latin typeface="Outfit Bold" pitchFamily="34" charset="0"/>
                <a:ea typeface="Outfit Bold" pitchFamily="34" charset="-122"/>
                <a:cs typeface="Outfit Bold" pitchFamily="34" charset="-120"/>
              </a:rPr>
              <a:t>资产配置结构</a:t>
            </a:r>
            <a:endParaRPr lang="en-US" sz="4450" dirty="0"/>
          </a:p>
        </p:txBody>
      </p:sp>
      <p:pic>
        <p:nvPicPr>
          <p:cNvPr id="3" name="Image 0" descr="preencoded.png">    </p:cNvPr>
          <p:cNvPicPr>
            <a:picLocks noChangeAspect="1"/>
          </p:cNvPicPr>
          <p:nvPr/>
        </p:nvPicPr>
        <p:blipFill>
          <a:blip r:embed="rId1"/>
          <a:stretch>
            <a:fillRect/>
          </a:stretch>
        </p:blipFill>
        <p:spPr>
          <a:xfrm>
            <a:off x="793790" y="2890718"/>
            <a:ext cx="6244709" cy="3239691"/>
          </a:xfrm>
          <a:prstGeom prst="rect">
            <a:avLst/>
          </a:prstGeom>
        </p:spPr>
      </p:pic>
      <p:sp>
        <p:nvSpPr>
          <p:cNvPr id="4" name="Shape 1"/>
          <p:cNvSpPr/>
          <p:nvPr/>
        </p:nvSpPr>
        <p:spPr>
          <a:xfrm>
            <a:off x="2645212" y="6160889"/>
            <a:ext cx="226814" cy="226814"/>
          </a:xfrm>
          <a:prstGeom prst="roundRect">
            <a:avLst>
              <a:gd name="adj" fmla="val 8063"/>
            </a:avLst>
          </a:prstGeom>
          <a:solidFill>
            <a:srgbClr val="333526"/>
          </a:solidFill>
          <a:ln/>
        </p:spPr>
      </p:sp>
      <p:sp>
        <p:nvSpPr>
          <p:cNvPr id="5" name="Text 2"/>
          <p:cNvSpPr/>
          <p:nvPr/>
        </p:nvSpPr>
        <p:spPr>
          <a:xfrm>
            <a:off x="2932986" y="6160889"/>
            <a:ext cx="906899" cy="226814"/>
          </a:xfrm>
          <a:prstGeom prst="rect">
            <a:avLst/>
          </a:prstGeom>
          <a:noFill/>
          <a:ln/>
        </p:spPr>
        <p:txBody>
          <a:bodyPr wrap="none" lIns="0" tIns="0" rIns="0" bIns="0" rtlCol="0" anchor="t"/>
          <a:lstStyle/>
          <a:p>
            <a:pPr algn="l" indent="0" marL="0">
              <a:lnSpc>
                <a:spcPts val="1750"/>
              </a:lnSpc>
              <a:buNone/>
            </a:pPr>
            <a:r>
              <a:rPr lang="en-US" sz="1750" dirty="0">
                <a:solidFill>
                  <a:srgbClr val="C2C4B5"/>
                </a:solidFill>
                <a:latin typeface="Bitter" pitchFamily="34" charset="0"/>
                <a:ea typeface="Bitter" pitchFamily="34" charset="-122"/>
                <a:cs typeface="Bitter" pitchFamily="34" charset="-120"/>
              </a:rPr>
              <a:t>股票投资</a:t>
            </a:r>
            <a:endParaRPr lang="en-US" sz="1750" dirty="0"/>
          </a:p>
        </p:txBody>
      </p:sp>
      <p:sp>
        <p:nvSpPr>
          <p:cNvPr id="6" name="Shape 3"/>
          <p:cNvSpPr/>
          <p:nvPr/>
        </p:nvSpPr>
        <p:spPr>
          <a:xfrm>
            <a:off x="3992285" y="6160889"/>
            <a:ext cx="226814" cy="226814"/>
          </a:xfrm>
          <a:prstGeom prst="roundRect">
            <a:avLst>
              <a:gd name="adj" fmla="val 8063"/>
            </a:avLst>
          </a:prstGeom>
          <a:solidFill>
            <a:srgbClr val="9CA27E"/>
          </a:solidFill>
          <a:ln/>
        </p:spPr>
      </p:sp>
      <p:sp>
        <p:nvSpPr>
          <p:cNvPr id="7" name="Text 4"/>
          <p:cNvSpPr/>
          <p:nvPr/>
        </p:nvSpPr>
        <p:spPr>
          <a:xfrm>
            <a:off x="4280059" y="6160889"/>
            <a:ext cx="1360289" cy="226814"/>
          </a:xfrm>
          <a:prstGeom prst="rect">
            <a:avLst/>
          </a:prstGeom>
          <a:noFill/>
          <a:ln/>
        </p:spPr>
        <p:txBody>
          <a:bodyPr wrap="none" lIns="0" tIns="0" rIns="0" bIns="0" rtlCol="0" anchor="t"/>
          <a:lstStyle/>
          <a:p>
            <a:pPr algn="l" indent="0" marL="0">
              <a:lnSpc>
                <a:spcPts val="1750"/>
              </a:lnSpc>
              <a:buNone/>
            </a:pPr>
            <a:r>
              <a:rPr lang="en-US" sz="1750" dirty="0">
                <a:solidFill>
                  <a:srgbClr val="C2C4B5"/>
                </a:solidFill>
                <a:latin typeface="Bitter" pitchFamily="34" charset="0"/>
                <a:ea typeface="Bitter" pitchFamily="34" charset="-122"/>
                <a:cs typeface="Bitter" pitchFamily="34" charset="-120"/>
              </a:rPr>
              <a:t>现金及等价物</a:t>
            </a:r>
            <a:endParaRPr lang="en-US" sz="1750" dirty="0"/>
          </a:p>
        </p:txBody>
      </p:sp>
      <p:sp>
        <p:nvSpPr>
          <p:cNvPr id="8" name="Text 5"/>
          <p:cNvSpPr/>
          <p:nvPr/>
        </p:nvSpPr>
        <p:spPr>
          <a:xfrm>
            <a:off x="7599521" y="2862382"/>
            <a:ext cx="3402330" cy="425291"/>
          </a:xfrm>
          <a:prstGeom prst="rect">
            <a:avLst/>
          </a:prstGeom>
          <a:noFill/>
          <a:ln/>
        </p:spPr>
        <p:txBody>
          <a:bodyPr wrap="none" lIns="0" tIns="0" rIns="0" bIns="0" rtlCol="0" anchor="t"/>
          <a:lstStyle/>
          <a:p>
            <a:pPr algn="l" indent="0" marL="0">
              <a:lnSpc>
                <a:spcPts val="3300"/>
              </a:lnSpc>
              <a:buNone/>
            </a:pPr>
            <a:r>
              <a:rPr lang="en-US" sz="2650" b="1" dirty="0">
                <a:solidFill>
                  <a:srgbClr val="E1E5CD"/>
                </a:solidFill>
                <a:latin typeface="Outfit Bold" pitchFamily="34" charset="0"/>
                <a:ea typeface="Outfit Bold" pitchFamily="34" charset="-122"/>
                <a:cs typeface="Outfit Bold" pitchFamily="34" charset="-120"/>
              </a:rPr>
              <a:t>跨市场布局</a:t>
            </a:r>
            <a:endParaRPr lang="en-US" sz="2650" dirty="0"/>
          </a:p>
        </p:txBody>
      </p:sp>
      <p:sp>
        <p:nvSpPr>
          <p:cNvPr id="9" name="Text 6"/>
          <p:cNvSpPr/>
          <p:nvPr/>
        </p:nvSpPr>
        <p:spPr>
          <a:xfrm>
            <a:off x="7599521" y="3514487"/>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本基金维持高仓位股票配置策略,充分把握A股、港股、美股三地市场机会。</a:t>
            </a:r>
            <a:endParaRPr lang="en-US" sz="1750" dirty="0"/>
          </a:p>
        </p:txBody>
      </p:sp>
      <p:sp>
        <p:nvSpPr>
          <p:cNvPr id="10" name="Text 7"/>
          <p:cNvSpPr/>
          <p:nvPr/>
        </p:nvSpPr>
        <p:spPr>
          <a:xfrm>
            <a:off x="7599521" y="4444365"/>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9FA582"/>
                </a:solidFill>
                <a:latin typeface="Bitter" pitchFamily="34" charset="0"/>
                <a:ea typeface="Bitter" pitchFamily="34" charset="-122"/>
                <a:cs typeface="Bitter" pitchFamily="34" charset="-120"/>
              </a:rPr>
              <a:t>A股市场:</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聚焦消费龙头及科技创新</a:t>
            </a:r>
            <a:endParaRPr lang="en-US" sz="1750" dirty="0"/>
          </a:p>
        </p:txBody>
      </p:sp>
      <p:sp>
        <p:nvSpPr>
          <p:cNvPr id="11" name="Text 8"/>
          <p:cNvSpPr/>
          <p:nvPr/>
        </p:nvSpPr>
        <p:spPr>
          <a:xfrm>
            <a:off x="7599521" y="4886563"/>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9FA582"/>
                </a:solidFill>
                <a:latin typeface="Bitter" pitchFamily="34" charset="0"/>
                <a:ea typeface="Bitter" pitchFamily="34" charset="-122"/>
                <a:cs typeface="Bitter" pitchFamily="34" charset="-120"/>
              </a:rPr>
              <a:t>港股市场:</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把握互联网平台低估值机会</a:t>
            </a:r>
            <a:endParaRPr lang="en-US" sz="1750" dirty="0"/>
          </a:p>
        </p:txBody>
      </p:sp>
      <p:sp>
        <p:nvSpPr>
          <p:cNvPr id="12" name="Text 9"/>
          <p:cNvSpPr/>
          <p:nvPr/>
        </p:nvSpPr>
        <p:spPr>
          <a:xfrm>
            <a:off x="7599521" y="532876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9FA582"/>
                </a:solidFill>
                <a:latin typeface="Bitter" pitchFamily="34" charset="0"/>
                <a:ea typeface="Bitter" pitchFamily="34" charset="-122"/>
                <a:cs typeface="Bitter" pitchFamily="34" charset="-120"/>
              </a:rPr>
              <a:t>美股市场:</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配置全球科技及医疗龙头</a:t>
            </a:r>
            <a:endParaRPr lang="en-US" sz="1750" dirty="0"/>
          </a:p>
        </p:txBody>
      </p:sp>
      <p:sp>
        <p:nvSpPr>
          <p:cNvPr id="13" name="Text 10"/>
          <p:cNvSpPr/>
          <p:nvPr/>
        </p:nvSpPr>
        <p:spPr>
          <a:xfrm>
            <a:off x="7599521" y="5895737"/>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保留适度现金头寸,灵活应对市场波动,把握阶段性加仓时机。</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C1D1F">
              <a:alpha val="80000"/>
            </a:srgbClr>
          </a:solidFill>
          <a:ln/>
        </p:spPr>
      </p:sp>
      <p:sp>
        <p:nvSpPr>
          <p:cNvPr id="4" name="Text 1"/>
          <p:cNvSpPr/>
          <p:nvPr/>
        </p:nvSpPr>
        <p:spPr>
          <a:xfrm>
            <a:off x="793790" y="1314212"/>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1E5CD"/>
                </a:solidFill>
                <a:latin typeface="Outfit Bold" pitchFamily="34" charset="0"/>
                <a:ea typeface="Outfit Bold" pitchFamily="34" charset="-122"/>
                <a:cs typeface="Outfit Bold" pitchFamily="34" charset="-120"/>
              </a:rPr>
              <a:t>行业配置与重仓股分析</a:t>
            </a:r>
            <a:endParaRPr lang="en-US" sz="4450" dirty="0"/>
          </a:p>
        </p:txBody>
      </p:sp>
      <p:sp>
        <p:nvSpPr>
          <p:cNvPr id="5" name="Text 2"/>
          <p:cNvSpPr/>
          <p:nvPr/>
        </p:nvSpPr>
        <p:spPr>
          <a:xfrm>
            <a:off x="2098238" y="2363153"/>
            <a:ext cx="1743551" cy="354330"/>
          </a:xfrm>
          <a:prstGeom prst="rect">
            <a:avLst/>
          </a:prstGeom>
          <a:noFill/>
          <a:ln/>
        </p:spPr>
        <p:txBody>
          <a:bodyPr wrap="none" lIns="0" tIns="0" rIns="0" bIns="0" rtlCol="0" anchor="t"/>
          <a:lstStyle/>
          <a:p>
            <a:pPr algn="l"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必需消费</a:t>
            </a:r>
            <a:endParaRPr lang="en-US" sz="2200" dirty="0"/>
          </a:p>
        </p:txBody>
      </p:sp>
      <p:sp>
        <p:nvSpPr>
          <p:cNvPr id="6" name="Text 3"/>
          <p:cNvSpPr/>
          <p:nvPr/>
        </p:nvSpPr>
        <p:spPr>
          <a:xfrm>
            <a:off x="2098238" y="2853571"/>
            <a:ext cx="1743551" cy="1088708"/>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代表持仓:</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百胜中国、蒙牛乳业、海底捞、五粮液</a:t>
            </a:r>
            <a:endParaRPr lang="en-US" sz="1750" dirty="0"/>
          </a:p>
        </p:txBody>
      </p:sp>
      <p:sp>
        <p:nvSpPr>
          <p:cNvPr id="7" name="Text 4"/>
          <p:cNvSpPr/>
          <p:nvPr/>
        </p:nvSpPr>
        <p:spPr>
          <a:xfrm>
            <a:off x="2098238" y="4078367"/>
            <a:ext cx="1743551" cy="1088708"/>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投资逻辑:</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低估值叠加稳定分红,防御性配置核心</a:t>
            </a:r>
            <a:endParaRPr lang="en-US" sz="1750" dirty="0"/>
          </a:p>
        </p:txBody>
      </p:sp>
      <p:sp>
        <p:nvSpPr>
          <p:cNvPr id="8" name="Text 5"/>
          <p:cNvSpPr/>
          <p:nvPr/>
        </p:nvSpPr>
        <p:spPr>
          <a:xfrm>
            <a:off x="5429726" y="2363153"/>
            <a:ext cx="1743670" cy="354330"/>
          </a:xfrm>
          <a:prstGeom prst="rect">
            <a:avLst/>
          </a:prstGeom>
          <a:noFill/>
          <a:ln/>
        </p:spPr>
        <p:txBody>
          <a:bodyPr wrap="none" lIns="0" tIns="0" rIns="0" bIns="0" rtlCol="0" anchor="t"/>
          <a:lstStyle/>
          <a:p>
            <a:pPr algn="l"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科技互联网</a:t>
            </a:r>
            <a:endParaRPr lang="en-US" sz="2200" dirty="0"/>
          </a:p>
        </p:txBody>
      </p:sp>
      <p:sp>
        <p:nvSpPr>
          <p:cNvPr id="9" name="Text 6"/>
          <p:cNvSpPr/>
          <p:nvPr/>
        </p:nvSpPr>
        <p:spPr>
          <a:xfrm>
            <a:off x="5429726" y="2853571"/>
            <a:ext cx="1743670" cy="1451610"/>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代表持仓:</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美团-W、阿里巴巴-W、英伟达、台积电</a:t>
            </a:r>
            <a:endParaRPr lang="en-US" sz="1750" dirty="0"/>
          </a:p>
        </p:txBody>
      </p:sp>
      <p:sp>
        <p:nvSpPr>
          <p:cNvPr id="10" name="Text 7"/>
          <p:cNvSpPr/>
          <p:nvPr/>
        </p:nvSpPr>
        <p:spPr>
          <a:xfrm>
            <a:off x="5429726" y="4441269"/>
            <a:ext cx="1743670" cy="1088708"/>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投资逻辑:</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把握AI浪潮及数字化转型成长机会</a:t>
            </a:r>
            <a:endParaRPr lang="en-US" sz="1750" dirty="0"/>
          </a:p>
        </p:txBody>
      </p:sp>
      <p:sp>
        <p:nvSpPr>
          <p:cNvPr id="11" name="Text 8"/>
          <p:cNvSpPr/>
          <p:nvPr/>
        </p:nvSpPr>
        <p:spPr>
          <a:xfrm>
            <a:off x="8761333" y="2363153"/>
            <a:ext cx="1743670" cy="354330"/>
          </a:xfrm>
          <a:prstGeom prst="rect">
            <a:avLst/>
          </a:prstGeom>
          <a:noFill/>
          <a:ln/>
        </p:spPr>
        <p:txBody>
          <a:bodyPr wrap="none" lIns="0" tIns="0" rIns="0" bIns="0" rtlCol="0" anchor="t"/>
          <a:lstStyle/>
          <a:p>
            <a:pPr algn="l"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医疗健康</a:t>
            </a:r>
            <a:endParaRPr lang="en-US" sz="2200" dirty="0"/>
          </a:p>
        </p:txBody>
      </p:sp>
      <p:sp>
        <p:nvSpPr>
          <p:cNvPr id="12" name="Text 9"/>
          <p:cNvSpPr/>
          <p:nvPr/>
        </p:nvSpPr>
        <p:spPr>
          <a:xfrm>
            <a:off x="8761333" y="2853571"/>
            <a:ext cx="1743670" cy="725805"/>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代表持仓:</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联合健康集团</a:t>
            </a:r>
            <a:endParaRPr lang="en-US" sz="1750" dirty="0"/>
          </a:p>
        </p:txBody>
      </p:sp>
      <p:sp>
        <p:nvSpPr>
          <p:cNvPr id="13" name="Text 10"/>
          <p:cNvSpPr/>
          <p:nvPr/>
        </p:nvSpPr>
        <p:spPr>
          <a:xfrm>
            <a:off x="8761333" y="3715464"/>
            <a:ext cx="1743670" cy="1088708"/>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投资逻辑:</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全球老龄化趋势下的结构性机会</a:t>
            </a:r>
            <a:endParaRPr lang="en-US" sz="1750" dirty="0"/>
          </a:p>
        </p:txBody>
      </p:sp>
      <p:sp>
        <p:nvSpPr>
          <p:cNvPr id="14" name="Text 11"/>
          <p:cNvSpPr/>
          <p:nvPr/>
        </p:nvSpPr>
        <p:spPr>
          <a:xfrm>
            <a:off x="12092940" y="2363153"/>
            <a:ext cx="1743670" cy="354330"/>
          </a:xfrm>
          <a:prstGeom prst="rect">
            <a:avLst/>
          </a:prstGeom>
          <a:noFill/>
          <a:ln/>
        </p:spPr>
        <p:txBody>
          <a:bodyPr wrap="none" lIns="0" tIns="0" rIns="0" bIns="0" rtlCol="0" anchor="t"/>
          <a:lstStyle/>
          <a:p>
            <a:pPr algn="l" indent="0" marL="0">
              <a:lnSpc>
                <a:spcPts val="2750"/>
              </a:lnSpc>
              <a:buNone/>
            </a:pPr>
            <a:r>
              <a:rPr lang="en-US" sz="2200" b="1" dirty="0">
                <a:solidFill>
                  <a:srgbClr val="C2C4B5"/>
                </a:solidFill>
                <a:latin typeface="Outfit Bold" pitchFamily="34" charset="0"/>
                <a:ea typeface="Outfit Bold" pitchFamily="34" charset="-122"/>
                <a:cs typeface="Outfit Bold" pitchFamily="34" charset="-120"/>
              </a:rPr>
              <a:t>可选消费</a:t>
            </a:r>
            <a:endParaRPr lang="en-US" sz="2200" dirty="0"/>
          </a:p>
        </p:txBody>
      </p:sp>
      <p:sp>
        <p:nvSpPr>
          <p:cNvPr id="15" name="Text 12"/>
          <p:cNvSpPr/>
          <p:nvPr/>
        </p:nvSpPr>
        <p:spPr>
          <a:xfrm>
            <a:off x="12092940" y="2853571"/>
            <a:ext cx="1743670" cy="1088708"/>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代表持仓:</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露露柠檬、戴尔科技、Prada普拉达</a:t>
            </a:r>
            <a:endParaRPr lang="en-US" sz="1750" dirty="0"/>
          </a:p>
        </p:txBody>
      </p:sp>
      <p:sp>
        <p:nvSpPr>
          <p:cNvPr id="16" name="Text 13"/>
          <p:cNvSpPr/>
          <p:nvPr/>
        </p:nvSpPr>
        <p:spPr>
          <a:xfrm>
            <a:off x="12092940" y="4078367"/>
            <a:ext cx="1743670" cy="1088708"/>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投资逻辑:</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捕捉全球消费升级长期趋势</a:t>
            </a:r>
            <a:endParaRPr lang="en-US" sz="1750" dirty="0"/>
          </a:p>
        </p:txBody>
      </p:sp>
      <p:sp>
        <p:nvSpPr>
          <p:cNvPr id="17" name="Shape 14"/>
          <p:cNvSpPr/>
          <p:nvPr/>
        </p:nvSpPr>
        <p:spPr>
          <a:xfrm>
            <a:off x="793790" y="5898508"/>
            <a:ext cx="13042821" cy="35957"/>
          </a:xfrm>
          <a:prstGeom prst="rect">
            <a:avLst/>
          </a:prstGeom>
          <a:solidFill>
            <a:srgbClr val="C2C4B5">
              <a:alpha val="50000"/>
            </a:srgbClr>
          </a:solidFill>
          <a:ln/>
        </p:spPr>
      </p:sp>
      <p:sp>
        <p:nvSpPr>
          <p:cNvPr id="18" name="Text 15"/>
          <p:cNvSpPr/>
          <p:nvPr/>
        </p:nvSpPr>
        <p:spPr>
          <a:xfrm>
            <a:off x="793790" y="6189583"/>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前十大重仓股合计占基金净值比例:</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约68%,集中度适中,兼顾收益与风险控制。各重仓股按市值、占比进行动态管理,港股持仓已按汇率换算为人民币计价。</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90719"/>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1E5CD"/>
                </a:solidFill>
                <a:latin typeface="Outfit Bold" pitchFamily="34" charset="0"/>
                <a:ea typeface="Outfit Bold" pitchFamily="34" charset="-122"/>
                <a:cs typeface="Outfit Bold" pitchFamily="34" charset="-120"/>
              </a:rPr>
              <a:t>基金份额变动情况</a:t>
            </a:r>
            <a:endParaRPr lang="en-US" sz="4450" dirty="0"/>
          </a:p>
        </p:txBody>
      </p:sp>
      <p:pic>
        <p:nvPicPr>
          <p:cNvPr id="3" name="Image 0" descr="preencoded.png">    </p:cNvPr>
          <p:cNvPicPr>
            <a:picLocks noChangeAspect="1"/>
          </p:cNvPicPr>
          <p:nvPr/>
        </p:nvPicPr>
        <p:blipFill>
          <a:blip r:embed="rId1"/>
          <a:stretch>
            <a:fillRect/>
          </a:stretch>
        </p:blipFill>
        <p:spPr>
          <a:xfrm>
            <a:off x="793790" y="2294811"/>
            <a:ext cx="7604284" cy="4258389"/>
          </a:xfrm>
          <a:prstGeom prst="rect">
            <a:avLst/>
          </a:prstGeom>
        </p:spPr>
      </p:pic>
      <p:sp>
        <p:nvSpPr>
          <p:cNvPr id="4" name="Text 1"/>
          <p:cNvSpPr/>
          <p:nvPr/>
        </p:nvSpPr>
        <p:spPr>
          <a:xfrm>
            <a:off x="8959096" y="2266474"/>
            <a:ext cx="3402330" cy="425291"/>
          </a:xfrm>
          <a:prstGeom prst="rect">
            <a:avLst/>
          </a:prstGeom>
          <a:noFill/>
          <a:ln/>
        </p:spPr>
        <p:txBody>
          <a:bodyPr wrap="none" lIns="0" tIns="0" rIns="0" bIns="0" rtlCol="0" anchor="t"/>
          <a:lstStyle/>
          <a:p>
            <a:pPr algn="l" indent="0" marL="0">
              <a:lnSpc>
                <a:spcPts val="3300"/>
              </a:lnSpc>
              <a:buNone/>
            </a:pPr>
            <a:r>
              <a:rPr lang="en-US" sz="2650" b="1" dirty="0">
                <a:solidFill>
                  <a:srgbClr val="E1E5CD"/>
                </a:solidFill>
                <a:latin typeface="Outfit Bold" pitchFamily="34" charset="0"/>
                <a:ea typeface="Outfit Bold" pitchFamily="34" charset="-122"/>
                <a:cs typeface="Outfit Bold" pitchFamily="34" charset="-120"/>
              </a:rPr>
              <a:t>份额增长</a:t>
            </a:r>
            <a:endParaRPr lang="en-US" sz="2650" dirty="0"/>
          </a:p>
        </p:txBody>
      </p:sp>
      <p:sp>
        <p:nvSpPr>
          <p:cNvPr id="5" name="Text 2"/>
          <p:cNvSpPr/>
          <p:nvPr/>
        </p:nvSpPr>
        <p:spPr>
          <a:xfrm>
            <a:off x="8959096" y="2918579"/>
            <a:ext cx="4885015" cy="362903"/>
          </a:xfrm>
          <a:prstGeom prst="rect">
            <a:avLst/>
          </a:prstGeom>
          <a:noFill/>
          <a:ln/>
        </p:spPr>
        <p:txBody>
          <a:bodyPr wrap="non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报告期内基金份额实现稳健增长:</a:t>
            </a:r>
            <a:endParaRPr lang="en-US" sz="1750" dirty="0"/>
          </a:p>
        </p:txBody>
      </p:sp>
      <p:sp>
        <p:nvSpPr>
          <p:cNvPr id="6" name="Text 3"/>
          <p:cNvSpPr/>
          <p:nvPr/>
        </p:nvSpPr>
        <p:spPr>
          <a:xfrm>
            <a:off x="8959096" y="3485555"/>
            <a:ext cx="4885015"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2C4B5"/>
                </a:solidFill>
                <a:latin typeface="Bitter" pitchFamily="34" charset="0"/>
                <a:ea typeface="Bitter" pitchFamily="34" charset="-122"/>
                <a:cs typeface="Bitter" pitchFamily="34" charset="-120"/>
              </a:rPr>
              <a:t>期初份额:</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389,311份</a:t>
            </a:r>
            <a:endParaRPr lang="en-US" sz="1750" dirty="0"/>
          </a:p>
        </p:txBody>
      </p:sp>
      <p:sp>
        <p:nvSpPr>
          <p:cNvPr id="7" name="Text 4"/>
          <p:cNvSpPr/>
          <p:nvPr/>
        </p:nvSpPr>
        <p:spPr>
          <a:xfrm>
            <a:off x="8959096" y="3927753"/>
            <a:ext cx="4885015"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2C4B5"/>
                </a:solidFill>
                <a:latin typeface="Bitter" pitchFamily="34" charset="0"/>
                <a:ea typeface="Bitter" pitchFamily="34" charset="-122"/>
                <a:cs typeface="Bitter" pitchFamily="34" charset="-120"/>
              </a:rPr>
              <a:t>报告期申购:</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0份</a:t>
            </a:r>
            <a:endParaRPr lang="en-US" sz="1750" dirty="0"/>
          </a:p>
        </p:txBody>
      </p:sp>
      <p:sp>
        <p:nvSpPr>
          <p:cNvPr id="8" name="Text 5"/>
          <p:cNvSpPr/>
          <p:nvPr/>
        </p:nvSpPr>
        <p:spPr>
          <a:xfrm>
            <a:off x="8959096" y="4369951"/>
            <a:ext cx="4885015"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2C4B5"/>
                </a:solidFill>
                <a:latin typeface="Bitter" pitchFamily="34" charset="0"/>
                <a:ea typeface="Bitter" pitchFamily="34" charset="-122"/>
                <a:cs typeface="Bitter" pitchFamily="34" charset="-120"/>
              </a:rPr>
              <a:t>报告期赎回:</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0份</a:t>
            </a:r>
            <a:endParaRPr lang="en-US" sz="1750" dirty="0"/>
          </a:p>
        </p:txBody>
      </p:sp>
      <p:sp>
        <p:nvSpPr>
          <p:cNvPr id="9" name="Text 6"/>
          <p:cNvSpPr/>
          <p:nvPr/>
        </p:nvSpPr>
        <p:spPr>
          <a:xfrm>
            <a:off x="8959096" y="4812149"/>
            <a:ext cx="4885015"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2C4B5"/>
                </a:solidFill>
                <a:latin typeface="Bitter" pitchFamily="34" charset="0"/>
                <a:ea typeface="Bitter" pitchFamily="34" charset="-122"/>
                <a:cs typeface="Bitter" pitchFamily="34" charset="-120"/>
              </a:rPr>
              <a:t>期末份额:</a:t>
            </a:r>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 434,601份</a:t>
            </a:r>
            <a:endParaRPr lang="en-US" sz="1750" dirty="0"/>
          </a:p>
        </p:txBody>
      </p:sp>
      <p:sp>
        <p:nvSpPr>
          <p:cNvPr id="10" name="Text 7"/>
          <p:cNvSpPr/>
          <p:nvPr/>
        </p:nvSpPr>
        <p:spPr>
          <a:xfrm>
            <a:off x="8959096" y="5379125"/>
            <a:ext cx="4885015" cy="362903"/>
          </a:xfrm>
          <a:prstGeom prst="rect">
            <a:avLst/>
          </a:prstGeom>
          <a:noFill/>
          <a:ln/>
        </p:spPr>
        <p:txBody>
          <a:bodyPr wrap="none" lIns="0" tIns="0" rIns="0" bIns="0" rtlCol="0" anchor="t"/>
          <a:lstStyle/>
          <a:p>
            <a:pPr algn="l" indent="0" marL="0">
              <a:lnSpc>
                <a:spcPts val="2850"/>
              </a:lnSpc>
              <a:buNone/>
            </a:pPr>
            <a:r>
              <a:rPr lang="en-US" sz="1750" b="1" dirty="0">
                <a:solidFill>
                  <a:srgbClr val="C2C4B5"/>
                </a:solidFill>
                <a:latin typeface="Bitter" pitchFamily="34" charset="0"/>
                <a:ea typeface="Bitter" pitchFamily="34" charset="-122"/>
                <a:cs typeface="Bitter" pitchFamily="34" charset="-120"/>
              </a:rPr>
              <a:t>份额增长率: +11.6%</a:t>
            </a:r>
            <a:endParaRPr lang="en-US" sz="1750" dirty="0"/>
          </a:p>
        </p:txBody>
      </p:sp>
      <p:sp>
        <p:nvSpPr>
          <p:cNvPr id="11" name="Text 8"/>
          <p:cNvSpPr/>
          <p:nvPr/>
        </p:nvSpPr>
        <p:spPr>
          <a:xfrm>
            <a:off x="8959096" y="5946100"/>
            <a:ext cx="4885015" cy="1088708"/>
          </a:xfrm>
          <a:prstGeom prst="rect">
            <a:avLst/>
          </a:prstGeom>
          <a:noFill/>
          <a:ln/>
        </p:spPr>
        <p:txBody>
          <a:bodyPr wrap="square" lIns="0" tIns="0" rIns="0" bIns="0" rtlCol="0" anchor="t"/>
          <a:lstStyle/>
          <a:p>
            <a:pPr algn="l" indent="0" marL="0">
              <a:lnSpc>
                <a:spcPts val="2850"/>
              </a:lnSpc>
              <a:buNone/>
            </a:pPr>
            <a:r>
              <a:rPr lang="en-US" sz="1750" dirty="0">
                <a:solidFill>
                  <a:srgbClr val="C2C4B5"/>
                </a:solidFill>
                <a:latin typeface="Bitter" pitchFamily="34" charset="0"/>
                <a:ea typeface="Bitter" pitchFamily="34" charset="-122"/>
                <a:cs typeface="Bitter" pitchFamily="34" charset="-120"/>
              </a:rPr>
              <a:t>份额增长主要来源于基金分红再投资及净值增长带动的份额增加,反映投资者对基金长期表现的信心。</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26493" y="595670"/>
            <a:ext cx="5286970" cy="660916"/>
          </a:xfrm>
          <a:prstGeom prst="rect">
            <a:avLst/>
          </a:prstGeom>
          <a:noFill/>
          <a:ln/>
        </p:spPr>
        <p:txBody>
          <a:bodyPr wrap="none" lIns="0" tIns="0" rIns="0" bIns="0" rtlCol="0" anchor="t"/>
          <a:lstStyle/>
          <a:p>
            <a:pPr algn="l" indent="0" marL="0">
              <a:lnSpc>
                <a:spcPts val="5200"/>
              </a:lnSpc>
              <a:buNone/>
            </a:pPr>
            <a:r>
              <a:rPr lang="en-US" sz="4150" b="1" dirty="0">
                <a:solidFill>
                  <a:srgbClr val="E1E5CD"/>
                </a:solidFill>
                <a:latin typeface="Outfit Bold" pitchFamily="34" charset="0"/>
                <a:ea typeface="Outfit Bold" pitchFamily="34" charset="-122"/>
                <a:cs typeface="Outfit Bold" pitchFamily="34" charset="-120"/>
              </a:rPr>
              <a:t>市场展望与投资策略</a:t>
            </a:r>
            <a:endParaRPr lang="en-US" sz="4150" dirty="0"/>
          </a:p>
        </p:txBody>
      </p:sp>
      <p:pic>
        <p:nvPicPr>
          <p:cNvPr id="4" name="Image 1" descr="preencoded.png">    </p:cNvPr>
          <p:cNvPicPr>
            <a:picLocks noChangeAspect="1"/>
          </p:cNvPicPr>
          <p:nvPr/>
        </p:nvPicPr>
        <p:blipFill>
          <a:blip r:embed="rId2"/>
          <a:stretch>
            <a:fillRect/>
          </a:stretch>
        </p:blipFill>
        <p:spPr>
          <a:xfrm>
            <a:off x="6226493" y="1573768"/>
            <a:ext cx="1057394" cy="1556623"/>
          </a:xfrm>
          <a:prstGeom prst="rect">
            <a:avLst/>
          </a:prstGeom>
        </p:spPr>
      </p:pic>
      <p:sp>
        <p:nvSpPr>
          <p:cNvPr id="5" name="Text 1"/>
          <p:cNvSpPr/>
          <p:nvPr/>
        </p:nvSpPr>
        <p:spPr>
          <a:xfrm>
            <a:off x="7495342" y="1785223"/>
            <a:ext cx="2643426" cy="330398"/>
          </a:xfrm>
          <a:prstGeom prst="rect">
            <a:avLst/>
          </a:prstGeom>
          <a:noFill/>
          <a:ln/>
        </p:spPr>
        <p:txBody>
          <a:bodyPr wrap="none" lIns="0" tIns="0" rIns="0" bIns="0" rtlCol="0" anchor="t"/>
          <a:lstStyle/>
          <a:p>
            <a:pPr algn="l" indent="0" marL="0">
              <a:lnSpc>
                <a:spcPts val="2600"/>
              </a:lnSpc>
              <a:buNone/>
            </a:pPr>
            <a:r>
              <a:rPr lang="en-US" sz="2050" b="1" dirty="0">
                <a:solidFill>
                  <a:srgbClr val="C2C4B5"/>
                </a:solidFill>
                <a:latin typeface="Outfit Bold" pitchFamily="34" charset="0"/>
                <a:ea typeface="Outfit Bold" pitchFamily="34" charset="-122"/>
                <a:cs typeface="Outfit Bold" pitchFamily="34" charset="-120"/>
              </a:rPr>
              <a:t>宏观环境</a:t>
            </a:r>
            <a:endParaRPr lang="en-US" sz="2050" dirty="0"/>
          </a:p>
        </p:txBody>
      </p:sp>
      <p:sp>
        <p:nvSpPr>
          <p:cNvPr id="6" name="Text 2"/>
          <p:cNvSpPr/>
          <p:nvPr/>
        </p:nvSpPr>
        <p:spPr>
          <a:xfrm>
            <a:off x="7495342" y="2242423"/>
            <a:ext cx="6394966" cy="676513"/>
          </a:xfrm>
          <a:prstGeom prst="rect">
            <a:avLst/>
          </a:prstGeom>
          <a:noFill/>
          <a:ln/>
        </p:spPr>
        <p:txBody>
          <a:bodyPr wrap="square" lIns="0" tIns="0" rIns="0" bIns="0" rtlCol="0" anchor="t"/>
          <a:lstStyle/>
          <a:p>
            <a:pPr algn="l" indent="0" marL="0">
              <a:lnSpc>
                <a:spcPts val="2650"/>
              </a:lnSpc>
              <a:buNone/>
            </a:pPr>
            <a:r>
              <a:rPr lang="en-US" sz="1650" dirty="0">
                <a:solidFill>
                  <a:srgbClr val="C2C4B5"/>
                </a:solidFill>
                <a:latin typeface="Bitter" pitchFamily="34" charset="0"/>
                <a:ea typeface="Bitter" pitchFamily="34" charset="-122"/>
                <a:cs typeface="Bitter" pitchFamily="34" charset="-120"/>
              </a:rPr>
              <a:t>美联储加息周期结束,全球流动性环境改善,为权益资产提供支撑。中国经济政策持续优化,消费复苏与科技创新双轮驱动。</a:t>
            </a:r>
            <a:endParaRPr lang="en-US" sz="1650" dirty="0"/>
          </a:p>
        </p:txBody>
      </p:sp>
      <p:pic>
        <p:nvPicPr>
          <p:cNvPr id="7" name="Image 2" descr="preencoded.png">    </p:cNvPr>
          <p:cNvPicPr>
            <a:picLocks noChangeAspect="1"/>
          </p:cNvPicPr>
          <p:nvPr/>
        </p:nvPicPr>
        <p:blipFill>
          <a:blip r:embed="rId3"/>
          <a:stretch>
            <a:fillRect/>
          </a:stretch>
        </p:blipFill>
        <p:spPr>
          <a:xfrm>
            <a:off x="6226493" y="3130391"/>
            <a:ext cx="1057394" cy="1556623"/>
          </a:xfrm>
          <a:prstGeom prst="rect">
            <a:avLst/>
          </a:prstGeom>
        </p:spPr>
      </p:pic>
      <p:sp>
        <p:nvSpPr>
          <p:cNvPr id="8" name="Text 3"/>
          <p:cNvSpPr/>
          <p:nvPr/>
        </p:nvSpPr>
        <p:spPr>
          <a:xfrm>
            <a:off x="7495342" y="3341846"/>
            <a:ext cx="2643426" cy="330398"/>
          </a:xfrm>
          <a:prstGeom prst="rect">
            <a:avLst/>
          </a:prstGeom>
          <a:noFill/>
          <a:ln/>
        </p:spPr>
        <p:txBody>
          <a:bodyPr wrap="none" lIns="0" tIns="0" rIns="0" bIns="0" rtlCol="0" anchor="t"/>
          <a:lstStyle/>
          <a:p>
            <a:pPr algn="l" indent="0" marL="0">
              <a:lnSpc>
                <a:spcPts val="2600"/>
              </a:lnSpc>
              <a:buNone/>
            </a:pPr>
            <a:r>
              <a:rPr lang="en-US" sz="2050" b="1" dirty="0">
                <a:solidFill>
                  <a:srgbClr val="C2C4B5"/>
                </a:solidFill>
                <a:latin typeface="Outfit Bold" pitchFamily="34" charset="0"/>
                <a:ea typeface="Outfit Bold" pitchFamily="34" charset="-122"/>
                <a:cs typeface="Outfit Bold" pitchFamily="34" charset="-120"/>
              </a:rPr>
              <a:t>市场机会</a:t>
            </a:r>
            <a:endParaRPr lang="en-US" sz="2050" dirty="0"/>
          </a:p>
        </p:txBody>
      </p:sp>
      <p:sp>
        <p:nvSpPr>
          <p:cNvPr id="9" name="Text 4"/>
          <p:cNvSpPr/>
          <p:nvPr/>
        </p:nvSpPr>
        <p:spPr>
          <a:xfrm>
            <a:off x="7495342" y="3799046"/>
            <a:ext cx="6394966" cy="676513"/>
          </a:xfrm>
          <a:prstGeom prst="rect">
            <a:avLst/>
          </a:prstGeom>
          <a:noFill/>
          <a:ln/>
        </p:spPr>
        <p:txBody>
          <a:bodyPr wrap="square" lIns="0" tIns="0" rIns="0" bIns="0" rtlCol="0" anchor="t"/>
          <a:lstStyle/>
          <a:p>
            <a:pPr algn="l" indent="0" marL="0">
              <a:lnSpc>
                <a:spcPts val="2650"/>
              </a:lnSpc>
              <a:buNone/>
            </a:pPr>
            <a:r>
              <a:rPr lang="en-US" sz="1650" dirty="0">
                <a:solidFill>
                  <a:srgbClr val="C2C4B5"/>
                </a:solidFill>
                <a:latin typeface="Bitter" pitchFamily="34" charset="0"/>
                <a:ea typeface="Bitter" pitchFamily="34" charset="-122"/>
                <a:cs typeface="Bitter" pitchFamily="34" charset="-120"/>
              </a:rPr>
              <a:t>阶段性市场波动为优质资产提供低价布局窗口。港股互联网平台估值修复空间较大,A股消费龙头防御价值凸显,美股科技成长持续领跑。</a:t>
            </a:r>
            <a:endParaRPr lang="en-US" sz="1650" dirty="0"/>
          </a:p>
        </p:txBody>
      </p:sp>
      <p:pic>
        <p:nvPicPr>
          <p:cNvPr id="10" name="Image 3" descr="preencoded.png">    </p:cNvPr>
          <p:cNvPicPr>
            <a:picLocks noChangeAspect="1"/>
          </p:cNvPicPr>
          <p:nvPr/>
        </p:nvPicPr>
        <p:blipFill>
          <a:blip r:embed="rId4"/>
          <a:stretch>
            <a:fillRect/>
          </a:stretch>
        </p:blipFill>
        <p:spPr>
          <a:xfrm>
            <a:off x="6226493" y="4687014"/>
            <a:ext cx="1057394" cy="1556623"/>
          </a:xfrm>
          <a:prstGeom prst="rect">
            <a:avLst/>
          </a:prstGeom>
        </p:spPr>
      </p:pic>
      <p:sp>
        <p:nvSpPr>
          <p:cNvPr id="11" name="Text 5"/>
          <p:cNvSpPr/>
          <p:nvPr/>
        </p:nvSpPr>
        <p:spPr>
          <a:xfrm>
            <a:off x="7495342" y="4898469"/>
            <a:ext cx="2643426" cy="330398"/>
          </a:xfrm>
          <a:prstGeom prst="rect">
            <a:avLst/>
          </a:prstGeom>
          <a:noFill/>
          <a:ln/>
        </p:spPr>
        <p:txBody>
          <a:bodyPr wrap="none" lIns="0" tIns="0" rIns="0" bIns="0" rtlCol="0" anchor="t"/>
          <a:lstStyle/>
          <a:p>
            <a:pPr algn="l" indent="0" marL="0">
              <a:lnSpc>
                <a:spcPts val="2600"/>
              </a:lnSpc>
              <a:buNone/>
            </a:pPr>
            <a:r>
              <a:rPr lang="en-US" sz="2050" b="1" dirty="0">
                <a:solidFill>
                  <a:srgbClr val="C2C4B5"/>
                </a:solidFill>
                <a:latin typeface="Outfit Bold" pitchFamily="34" charset="0"/>
                <a:ea typeface="Outfit Bold" pitchFamily="34" charset="-122"/>
                <a:cs typeface="Outfit Bold" pitchFamily="34" charset="-120"/>
              </a:rPr>
              <a:t>核心策略</a:t>
            </a:r>
            <a:endParaRPr lang="en-US" sz="2050" dirty="0"/>
          </a:p>
        </p:txBody>
      </p:sp>
      <p:sp>
        <p:nvSpPr>
          <p:cNvPr id="12" name="Text 6"/>
          <p:cNvSpPr/>
          <p:nvPr/>
        </p:nvSpPr>
        <p:spPr>
          <a:xfrm>
            <a:off x="7495342" y="5355669"/>
            <a:ext cx="6394966" cy="676513"/>
          </a:xfrm>
          <a:prstGeom prst="rect">
            <a:avLst/>
          </a:prstGeom>
          <a:noFill/>
          <a:ln/>
        </p:spPr>
        <p:txBody>
          <a:bodyPr wrap="square" lIns="0" tIns="0" rIns="0" bIns="0" rtlCol="0" anchor="t"/>
          <a:lstStyle/>
          <a:p>
            <a:pPr algn="l" indent="0" marL="0">
              <a:lnSpc>
                <a:spcPts val="2650"/>
              </a:lnSpc>
              <a:buNone/>
            </a:pPr>
            <a:r>
              <a:rPr lang="en-US" sz="1650" dirty="0">
                <a:solidFill>
                  <a:srgbClr val="C2C4B5"/>
                </a:solidFill>
                <a:latin typeface="Bitter" pitchFamily="34" charset="0"/>
                <a:ea typeface="Bitter" pitchFamily="34" charset="-122"/>
                <a:cs typeface="Bitter" pitchFamily="34" charset="-120"/>
              </a:rPr>
              <a:t>坚持"稳健消费 + 科技成长 + 全球配置"三位一体策略。配置比例:A股/港股/美股 ≈ 5:3:2,保留5-10%现金灵活应对风险。</a:t>
            </a:r>
            <a:endParaRPr lang="en-US" sz="1650" dirty="0"/>
          </a:p>
        </p:txBody>
      </p:sp>
      <p:sp>
        <p:nvSpPr>
          <p:cNvPr id="13" name="Text 7"/>
          <p:cNvSpPr/>
          <p:nvPr/>
        </p:nvSpPr>
        <p:spPr>
          <a:xfrm>
            <a:off x="6543675" y="6719411"/>
            <a:ext cx="7346633" cy="676513"/>
          </a:xfrm>
          <a:prstGeom prst="rect">
            <a:avLst/>
          </a:prstGeom>
          <a:noFill/>
          <a:ln/>
        </p:spPr>
        <p:txBody>
          <a:bodyPr wrap="square" lIns="0" tIns="0" rIns="0" bIns="0" rtlCol="0" anchor="t"/>
          <a:lstStyle/>
          <a:p>
            <a:pPr algn="l" indent="0" marL="0">
              <a:lnSpc>
                <a:spcPts val="2650"/>
              </a:lnSpc>
              <a:buNone/>
            </a:pPr>
            <a:r>
              <a:rPr lang="en-US" sz="1650" dirty="0">
                <a:solidFill>
                  <a:srgbClr val="C2C4B5"/>
                </a:solidFill>
                <a:latin typeface="Bitter" pitchFamily="34" charset="0"/>
                <a:ea typeface="Bitter" pitchFamily="34" charset="-122"/>
                <a:cs typeface="Bitter" pitchFamily="34" charset="-120"/>
              </a:rPr>
              <a:t>"在不确定性中寻找确定性,在波动中把握结构性机会。通过跨市场资产配置与精选优质标的,我们致力于为投资者创造长期稳健回报。"</a:t>
            </a:r>
            <a:endParaRPr lang="en-US" sz="1650" dirty="0"/>
          </a:p>
        </p:txBody>
      </p:sp>
      <p:sp>
        <p:nvSpPr>
          <p:cNvPr id="14" name="Shape 8"/>
          <p:cNvSpPr/>
          <p:nvPr/>
        </p:nvSpPr>
        <p:spPr>
          <a:xfrm>
            <a:off x="6226493" y="6481524"/>
            <a:ext cx="22860" cy="1152287"/>
          </a:xfrm>
          <a:prstGeom prst="rect">
            <a:avLst/>
          </a:prstGeom>
          <a:solidFill>
            <a:srgbClr val="9FA582"/>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31386"/>
          </a:xfrm>
          <a:prstGeom prst="rect">
            <a:avLst/>
          </a:prstGeom>
        </p:spPr>
      </p:pic>
      <p:sp>
        <p:nvSpPr>
          <p:cNvPr id="3" name="Text 0"/>
          <p:cNvSpPr/>
          <p:nvPr/>
        </p:nvSpPr>
        <p:spPr>
          <a:xfrm>
            <a:off x="6135886" y="510302"/>
            <a:ext cx="7845028" cy="1159907"/>
          </a:xfrm>
          <a:prstGeom prst="rect">
            <a:avLst/>
          </a:prstGeom>
          <a:noFill/>
          <a:ln/>
        </p:spPr>
        <p:txBody>
          <a:bodyPr wrap="none" lIns="0" tIns="0" rIns="0" bIns="0" rtlCol="0" anchor="t"/>
          <a:lstStyle/>
          <a:p>
            <a:pPr algn="l" indent="0" marL="0">
              <a:lnSpc>
                <a:spcPts val="9100"/>
              </a:lnSpc>
              <a:buNone/>
            </a:pPr>
            <a:r>
              <a:rPr lang="en-US" sz="7300" b="1" dirty="0">
                <a:solidFill>
                  <a:srgbClr val="E1E5CD"/>
                </a:solidFill>
                <a:latin typeface="Outfit Bold" pitchFamily="34" charset="0"/>
                <a:ea typeface="Outfit Bold" pitchFamily="34" charset="-122"/>
                <a:cs typeface="Outfit Bold" pitchFamily="34" charset="-120"/>
              </a:rPr>
              <a:t>感谢您的信任</a:t>
            </a:r>
            <a:endParaRPr lang="en-US" sz="7300" dirty="0"/>
          </a:p>
        </p:txBody>
      </p:sp>
      <p:pic>
        <p:nvPicPr>
          <p:cNvPr id="4" name="Image 1" descr="preencoded.png">    </p:cNvPr>
          <p:cNvPicPr>
            <a:picLocks noChangeAspect="1"/>
          </p:cNvPicPr>
          <p:nvPr/>
        </p:nvPicPr>
        <p:blipFill>
          <a:blip r:embed="rId2"/>
          <a:stretch>
            <a:fillRect/>
          </a:stretch>
        </p:blipFill>
        <p:spPr>
          <a:xfrm>
            <a:off x="8455104" y="1948577"/>
            <a:ext cx="3206472" cy="1288733"/>
          </a:xfrm>
          <a:prstGeom prst="rect">
            <a:avLst/>
          </a:prstGeom>
        </p:spPr>
      </p:pic>
      <p:sp>
        <p:nvSpPr>
          <p:cNvPr id="5" name="Shape 1"/>
          <p:cNvSpPr/>
          <p:nvPr/>
        </p:nvSpPr>
        <p:spPr>
          <a:xfrm>
            <a:off x="6135886" y="3446026"/>
            <a:ext cx="3829764" cy="1477447"/>
          </a:xfrm>
          <a:prstGeom prst="roundRect">
            <a:avLst>
              <a:gd name="adj" fmla="val 1884"/>
            </a:avLst>
          </a:prstGeom>
          <a:solidFill>
            <a:srgbClr val="3B3C3E"/>
          </a:solidFill>
          <a:ln/>
        </p:spPr>
      </p:sp>
      <p:sp>
        <p:nvSpPr>
          <p:cNvPr id="6" name="Text 2"/>
          <p:cNvSpPr/>
          <p:nvPr/>
        </p:nvSpPr>
        <p:spPr>
          <a:xfrm>
            <a:off x="6321385" y="3631525"/>
            <a:ext cx="2319814" cy="289917"/>
          </a:xfrm>
          <a:prstGeom prst="rect">
            <a:avLst/>
          </a:prstGeom>
          <a:noFill/>
          <a:ln/>
        </p:spPr>
        <p:txBody>
          <a:bodyPr wrap="none" lIns="0" tIns="0" rIns="0" bIns="0" rtlCol="0" anchor="t"/>
          <a:lstStyle/>
          <a:p>
            <a:pPr algn="l" indent="0" marL="0">
              <a:lnSpc>
                <a:spcPts val="2250"/>
              </a:lnSpc>
              <a:buNone/>
            </a:pPr>
            <a:r>
              <a:rPr lang="en-US" sz="1800" b="1" dirty="0">
                <a:solidFill>
                  <a:srgbClr val="C2C4B5"/>
                </a:solidFill>
                <a:latin typeface="Outfit Bold" pitchFamily="34" charset="0"/>
                <a:ea typeface="Outfit Bold" pitchFamily="34" charset="-122"/>
                <a:cs typeface="Outfit Bold" pitchFamily="34" charset="-120"/>
              </a:rPr>
              <a:t>投资理念</a:t>
            </a:r>
            <a:endParaRPr lang="en-US" sz="1800" dirty="0"/>
          </a:p>
        </p:txBody>
      </p:sp>
      <p:sp>
        <p:nvSpPr>
          <p:cNvPr id="7" name="Text 3"/>
          <p:cNvSpPr/>
          <p:nvPr/>
        </p:nvSpPr>
        <p:spPr>
          <a:xfrm>
            <a:off x="6321385" y="4032766"/>
            <a:ext cx="3458766" cy="296942"/>
          </a:xfrm>
          <a:prstGeom prst="rect">
            <a:avLst/>
          </a:prstGeom>
          <a:noFill/>
          <a:ln/>
        </p:spPr>
        <p:txBody>
          <a:bodyPr wrap="non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价值投资 · 长期持有</a:t>
            </a:r>
            <a:endParaRPr lang="en-US" sz="1450" dirty="0"/>
          </a:p>
        </p:txBody>
      </p:sp>
      <p:sp>
        <p:nvSpPr>
          <p:cNvPr id="8" name="Text 4"/>
          <p:cNvSpPr/>
          <p:nvPr/>
        </p:nvSpPr>
        <p:spPr>
          <a:xfrm>
            <a:off x="6321385" y="4441031"/>
            <a:ext cx="3458766" cy="296942"/>
          </a:xfrm>
          <a:prstGeom prst="rect">
            <a:avLst/>
          </a:prstGeom>
          <a:noFill/>
          <a:ln/>
        </p:spPr>
        <p:txBody>
          <a:bodyPr wrap="non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分散风险 · 稳健增值</a:t>
            </a:r>
            <a:endParaRPr lang="en-US" sz="1450" dirty="0"/>
          </a:p>
        </p:txBody>
      </p:sp>
      <p:sp>
        <p:nvSpPr>
          <p:cNvPr id="9" name="Shape 5"/>
          <p:cNvSpPr/>
          <p:nvPr/>
        </p:nvSpPr>
        <p:spPr>
          <a:xfrm>
            <a:off x="10151150" y="3446026"/>
            <a:ext cx="3829764" cy="1477447"/>
          </a:xfrm>
          <a:prstGeom prst="roundRect">
            <a:avLst>
              <a:gd name="adj" fmla="val 1884"/>
            </a:avLst>
          </a:prstGeom>
          <a:solidFill>
            <a:srgbClr val="3B3C3E"/>
          </a:solidFill>
          <a:ln/>
        </p:spPr>
      </p:sp>
      <p:sp>
        <p:nvSpPr>
          <p:cNvPr id="10" name="Text 6"/>
          <p:cNvSpPr/>
          <p:nvPr/>
        </p:nvSpPr>
        <p:spPr>
          <a:xfrm>
            <a:off x="10336649" y="3631525"/>
            <a:ext cx="2319814" cy="289917"/>
          </a:xfrm>
          <a:prstGeom prst="rect">
            <a:avLst/>
          </a:prstGeom>
          <a:noFill/>
          <a:ln/>
        </p:spPr>
        <p:txBody>
          <a:bodyPr wrap="none" lIns="0" tIns="0" rIns="0" bIns="0" rtlCol="0" anchor="t"/>
          <a:lstStyle/>
          <a:p>
            <a:pPr algn="l" indent="0" marL="0">
              <a:lnSpc>
                <a:spcPts val="2250"/>
              </a:lnSpc>
              <a:buNone/>
            </a:pPr>
            <a:r>
              <a:rPr lang="en-US" sz="1800" b="1" dirty="0">
                <a:solidFill>
                  <a:srgbClr val="C2C4B5"/>
                </a:solidFill>
                <a:latin typeface="Outfit Bold" pitchFamily="34" charset="0"/>
                <a:ea typeface="Outfit Bold" pitchFamily="34" charset="-122"/>
                <a:cs typeface="Outfit Bold" pitchFamily="34" charset="-120"/>
              </a:rPr>
              <a:t>专业团队</a:t>
            </a:r>
            <a:endParaRPr lang="en-US" sz="1800" dirty="0"/>
          </a:p>
        </p:txBody>
      </p:sp>
      <p:sp>
        <p:nvSpPr>
          <p:cNvPr id="11" name="Text 7"/>
          <p:cNvSpPr/>
          <p:nvPr/>
        </p:nvSpPr>
        <p:spPr>
          <a:xfrm>
            <a:off x="10336649" y="4032766"/>
            <a:ext cx="3458766" cy="296942"/>
          </a:xfrm>
          <a:prstGeom prst="rect">
            <a:avLst/>
          </a:prstGeom>
          <a:noFill/>
          <a:ln/>
        </p:spPr>
        <p:txBody>
          <a:bodyPr wrap="non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跨市场研究能力</a:t>
            </a:r>
            <a:endParaRPr lang="en-US" sz="1450" dirty="0"/>
          </a:p>
        </p:txBody>
      </p:sp>
      <p:sp>
        <p:nvSpPr>
          <p:cNvPr id="12" name="Text 8"/>
          <p:cNvSpPr/>
          <p:nvPr/>
        </p:nvSpPr>
        <p:spPr>
          <a:xfrm>
            <a:off x="10336649" y="4441031"/>
            <a:ext cx="3458766" cy="296942"/>
          </a:xfrm>
          <a:prstGeom prst="rect">
            <a:avLst/>
          </a:prstGeom>
          <a:noFill/>
          <a:ln/>
        </p:spPr>
        <p:txBody>
          <a:bodyPr wrap="non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丰富投资管理经验</a:t>
            </a:r>
            <a:endParaRPr lang="en-US" sz="1450" dirty="0"/>
          </a:p>
        </p:txBody>
      </p:sp>
      <p:sp>
        <p:nvSpPr>
          <p:cNvPr id="13" name="Shape 9"/>
          <p:cNvSpPr/>
          <p:nvPr/>
        </p:nvSpPr>
        <p:spPr>
          <a:xfrm>
            <a:off x="6135886" y="5108972"/>
            <a:ext cx="7845028" cy="1477447"/>
          </a:xfrm>
          <a:prstGeom prst="roundRect">
            <a:avLst>
              <a:gd name="adj" fmla="val 1884"/>
            </a:avLst>
          </a:prstGeom>
          <a:solidFill>
            <a:srgbClr val="3B3C3E"/>
          </a:solidFill>
          <a:ln/>
        </p:spPr>
      </p:sp>
      <p:sp>
        <p:nvSpPr>
          <p:cNvPr id="14" name="Text 10"/>
          <p:cNvSpPr/>
          <p:nvPr/>
        </p:nvSpPr>
        <p:spPr>
          <a:xfrm>
            <a:off x="6321385" y="5294471"/>
            <a:ext cx="2319814" cy="289917"/>
          </a:xfrm>
          <a:prstGeom prst="rect">
            <a:avLst/>
          </a:prstGeom>
          <a:noFill/>
          <a:ln/>
        </p:spPr>
        <p:txBody>
          <a:bodyPr wrap="none" lIns="0" tIns="0" rIns="0" bIns="0" rtlCol="0" anchor="t"/>
          <a:lstStyle/>
          <a:p>
            <a:pPr algn="l" indent="0" marL="0">
              <a:lnSpc>
                <a:spcPts val="2250"/>
              </a:lnSpc>
              <a:buNone/>
            </a:pPr>
            <a:r>
              <a:rPr lang="en-US" sz="1800" b="1" dirty="0">
                <a:solidFill>
                  <a:srgbClr val="C2C4B5"/>
                </a:solidFill>
                <a:latin typeface="Outfit Bold" pitchFamily="34" charset="0"/>
                <a:ea typeface="Outfit Bold" pitchFamily="34" charset="-122"/>
                <a:cs typeface="Outfit Bold" pitchFamily="34" charset="-120"/>
              </a:rPr>
              <a:t>持续服务</a:t>
            </a:r>
            <a:endParaRPr lang="en-US" sz="1800" dirty="0"/>
          </a:p>
        </p:txBody>
      </p:sp>
      <p:sp>
        <p:nvSpPr>
          <p:cNvPr id="15" name="Text 11"/>
          <p:cNvSpPr/>
          <p:nvPr/>
        </p:nvSpPr>
        <p:spPr>
          <a:xfrm>
            <a:off x="6321385" y="5695712"/>
            <a:ext cx="7474029" cy="296942"/>
          </a:xfrm>
          <a:prstGeom prst="rect">
            <a:avLst/>
          </a:prstGeom>
          <a:noFill/>
          <a:ln/>
        </p:spPr>
        <p:txBody>
          <a:bodyPr wrap="non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透明信息披露</a:t>
            </a:r>
            <a:endParaRPr lang="en-US" sz="1450" dirty="0"/>
          </a:p>
        </p:txBody>
      </p:sp>
      <p:sp>
        <p:nvSpPr>
          <p:cNvPr id="16" name="Text 12"/>
          <p:cNvSpPr/>
          <p:nvPr/>
        </p:nvSpPr>
        <p:spPr>
          <a:xfrm>
            <a:off x="6321385" y="6103977"/>
            <a:ext cx="7474029" cy="296942"/>
          </a:xfrm>
          <a:prstGeom prst="rect">
            <a:avLst/>
          </a:prstGeom>
          <a:noFill/>
          <a:ln/>
        </p:spPr>
        <p:txBody>
          <a:bodyPr wrap="non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及时沟通反馈</a:t>
            </a:r>
            <a:endParaRPr lang="en-US" sz="1450" dirty="0"/>
          </a:p>
        </p:txBody>
      </p:sp>
      <p:sp>
        <p:nvSpPr>
          <p:cNvPr id="17" name="Shape 13"/>
          <p:cNvSpPr/>
          <p:nvPr/>
        </p:nvSpPr>
        <p:spPr>
          <a:xfrm>
            <a:off x="6135886" y="6887847"/>
            <a:ext cx="7845028" cy="30718"/>
          </a:xfrm>
          <a:prstGeom prst="rect">
            <a:avLst/>
          </a:prstGeom>
          <a:solidFill>
            <a:srgbClr val="C2C4B5">
              <a:alpha val="50000"/>
            </a:srgbClr>
          </a:solidFill>
          <a:ln/>
        </p:spPr>
      </p:sp>
      <p:sp>
        <p:nvSpPr>
          <p:cNvPr id="18" name="Text 14"/>
          <p:cNvSpPr/>
          <p:nvPr/>
        </p:nvSpPr>
        <p:spPr>
          <a:xfrm>
            <a:off x="6135886" y="7127200"/>
            <a:ext cx="7845028" cy="593884"/>
          </a:xfrm>
          <a:prstGeom prst="rect">
            <a:avLst/>
          </a:prstGeom>
          <a:noFill/>
          <a:ln/>
        </p:spPr>
        <p:txBody>
          <a:bodyPr wrap="squar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如需了解更多信息或有任何疑问,欢迎随时与我们联系。我们将继续秉承专业、审慎的投资管理理念,为您的资产保值增值保驾护航。</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2025-10-12T14:11:04Z</dcterms:created>
  <dcterms:modified xsi:type="dcterms:W3CDTF">2025-10-12T14:11:04Z</dcterms:modified>
</cp:coreProperties>
</file>